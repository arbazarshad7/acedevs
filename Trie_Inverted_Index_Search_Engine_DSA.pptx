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698480" cy="365760"/>
          </a:xfrm>
          <a:prstGeom prst="rect">
            <a:avLst/>
          </a:prstGeom>
          <a:noFill/>
        </p:spPr>
        <p:txBody>
          <a:bodyPr wrap="none">
            <a:spAutoFit/>
          </a:bodyPr>
          <a:lstStyle/>
          <a:p>
            <a:pPr>
              <a:defRPr sz="1000" b="1">
                <a:solidFill>
                  <a:srgbClr val="60A5FA"/>
                </a:solidFill>
                <a:latin typeface="Consolas"/>
              </a:defRPr>
            </a:pPr>
            <a:r>
              <a:t>CENTURION UNIVERSITY OF TECHNOLOGY &amp; MANAGEMENT // DEPT OF COMPUTER SCIENCE &amp; ENGINEERING</a:t>
            </a:r>
          </a:p>
        </p:txBody>
      </p:sp>
      <p:sp>
        <p:nvSpPr>
          <p:cNvPr id="4" name="TextBox 3"/>
          <p:cNvSpPr txBox="1"/>
          <p:nvPr/>
        </p:nvSpPr>
        <p:spPr>
          <a:xfrm>
            <a:off x="731520" y="1188720"/>
            <a:ext cx="10698480" cy="2926080"/>
          </a:xfrm>
          <a:prstGeom prst="rect">
            <a:avLst/>
          </a:prstGeom>
          <a:noFill/>
        </p:spPr>
        <p:txBody>
          <a:bodyPr wrap="square">
            <a:spAutoFit/>
          </a:bodyPr>
          <a:lstStyle/>
          <a:p>
            <a:pPr>
              <a:defRPr sz="1300" b="1">
                <a:solidFill>
                  <a:srgbClr val="34D399"/>
                </a:solidFill>
                <a:latin typeface="Consolas"/>
              </a:defRPr>
            </a:pPr>
            <a:r>
              <a:t>DATA STRUCTURES &amp; ALGORITHMS CAPSTONE PROJECT</a:t>
            </a:r>
          </a:p>
          <a:p>
            <a:pPr>
              <a:spcBef>
                <a:spcPts val="1000"/>
              </a:spcBef>
              <a:defRPr sz="3600" b="1">
                <a:solidFill>
                  <a:srgbClr val="D5E0FF"/>
                </a:solidFill>
                <a:latin typeface="Trebuchet MS"/>
              </a:defRPr>
            </a:pPr>
            <a:r>
              <a:t>The Trie-Based Multi-Tag Search</a:t>
            </a:r>
            <a:br/>
            <a:r>
              <a:t>&amp; Inverted Index Engine</a:t>
            </a:r>
          </a:p>
          <a:p>
            <a:pPr>
              <a:spcBef>
                <a:spcPts val="1200"/>
              </a:spcBef>
              <a:defRPr sz="1500">
                <a:solidFill>
                  <a:srgbClr val="94A3B8"/>
                </a:solidFill>
                <a:latin typeface="Calibri"/>
              </a:defRPr>
            </a:pPr>
            <a:r>
              <a:t>An algorithmic in-memory query engine featuring O(k) prefix autocomplete and boolean posting list set intersections for zero-latency client-side discovery.</a:t>
            </a:r>
          </a:p>
        </p:txBody>
      </p:sp>
      <p:sp>
        <p:nvSpPr>
          <p:cNvPr id="5" name="Rectangle 4"/>
          <p:cNvSpPr/>
          <p:nvPr/>
        </p:nvSpPr>
        <p:spPr>
          <a:xfrm>
            <a:off x="731520" y="4389120"/>
            <a:ext cx="3383280" cy="164592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526280"/>
            <a:ext cx="3017520" cy="1371600"/>
          </a:xfrm>
          <a:prstGeom prst="rect">
            <a:avLst/>
          </a:prstGeom>
          <a:noFill/>
        </p:spPr>
        <p:txBody>
          <a:bodyPr wrap="none">
            <a:spAutoFit/>
          </a:bodyPr>
          <a:lstStyle/>
          <a:p>
            <a:pPr>
              <a:defRPr sz="1600" b="1">
                <a:solidFill>
                  <a:srgbClr val="FFFFFF"/>
                </a:solidFill>
                <a:latin typeface="Trebuchet MS"/>
              </a:defRPr>
            </a:pPr>
            <a:r>
              <a:t>ARBAZ ARSHAD</a:t>
            </a:r>
          </a:p>
          <a:p>
            <a:pPr>
              <a:spcBef>
                <a:spcPts val="400"/>
              </a:spcBef>
              <a:defRPr sz="1100">
                <a:solidFill>
                  <a:srgbClr val="94A3B8"/>
                </a:solidFill>
                <a:latin typeface="Calibri"/>
              </a:defRPr>
            </a:pPr>
            <a:r>
              <a:t>Lead Architect &amp; Systems Engineer [DEV-01]</a:t>
            </a:r>
            <a:br/>
            <a:r>
              <a:t>Game Systems, AI &amp; XR</a:t>
            </a:r>
            <a:br/>
            <a:r>
              <a:t>Portfolio: arbazarshad.com</a:t>
            </a:r>
            <a:br/>
            <a:r>
              <a:t>GitHub: github.com/arbazarshad7</a:t>
            </a:r>
          </a:p>
        </p:txBody>
      </p:sp>
      <p:sp>
        <p:nvSpPr>
          <p:cNvPr id="7" name="Rectangle 6"/>
          <p:cNvSpPr/>
          <p:nvPr/>
        </p:nvSpPr>
        <p:spPr>
          <a:xfrm>
            <a:off x="4389120" y="4389120"/>
            <a:ext cx="3383280" cy="164592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4526280"/>
            <a:ext cx="3017520" cy="1371600"/>
          </a:xfrm>
          <a:prstGeom prst="rect">
            <a:avLst/>
          </a:prstGeom>
          <a:noFill/>
        </p:spPr>
        <p:txBody>
          <a:bodyPr wrap="none">
            <a:spAutoFit/>
          </a:bodyPr>
          <a:lstStyle/>
          <a:p>
            <a:pPr>
              <a:defRPr sz="1600" b="1">
                <a:solidFill>
                  <a:srgbClr val="FFFFFF"/>
                </a:solidFill>
                <a:latin typeface="Trebuchet MS"/>
              </a:defRPr>
            </a:pPr>
            <a:r>
              <a:t>DEVESH DAS</a:t>
            </a:r>
          </a:p>
          <a:p>
            <a:pPr>
              <a:spcBef>
                <a:spcPts val="400"/>
              </a:spcBef>
              <a:defRPr sz="1100">
                <a:solidFill>
                  <a:srgbClr val="94A3B8"/>
                </a:solidFill>
                <a:latin typeface="Calibri"/>
              </a:defRPr>
            </a:pPr>
            <a:r>
              <a:t>Algorithms &amp; CS Engineer [DEV-02]</a:t>
            </a:r>
            <a:br/>
            <a:r>
              <a:t>Game Mechanics &amp; Physics Engines</a:t>
            </a:r>
            <a:br/>
            <a:r>
              <a:t>Portfolio: mrdeveshdas.vercel.app</a:t>
            </a:r>
            <a:br/>
            <a:r>
              <a:t>GitHub: github.com/ninja27dev</a:t>
            </a:r>
          </a:p>
        </p:txBody>
      </p:sp>
      <p:sp>
        <p:nvSpPr>
          <p:cNvPr id="9" name="Rectangle 8"/>
          <p:cNvSpPr/>
          <p:nvPr/>
        </p:nvSpPr>
        <p:spPr>
          <a:xfrm>
            <a:off x="8046720" y="4389120"/>
            <a:ext cx="3383280" cy="164592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4526280"/>
            <a:ext cx="3017520" cy="1371600"/>
          </a:xfrm>
          <a:prstGeom prst="rect">
            <a:avLst/>
          </a:prstGeom>
          <a:noFill/>
        </p:spPr>
        <p:txBody>
          <a:bodyPr wrap="none">
            <a:spAutoFit/>
          </a:bodyPr>
          <a:lstStyle/>
          <a:p>
            <a:pPr>
              <a:defRPr sz="1500" b="1">
                <a:solidFill>
                  <a:srgbClr val="60A5FA"/>
                </a:solidFill>
                <a:latin typeface="Trebuchet MS"/>
              </a:defRPr>
            </a:pPr>
            <a:r>
              <a:t>APPLICATION DOMAIN</a:t>
            </a:r>
          </a:p>
          <a:p>
            <a:pPr>
              <a:spcBef>
                <a:spcPts val="400"/>
              </a:spcBef>
              <a:defRPr sz="1050">
                <a:solidFill>
                  <a:srgbClr val="94A3B8"/>
                </a:solidFill>
                <a:latin typeface="Consolas"/>
              </a:defRPr>
            </a:pPr>
            <a:r>
              <a:t>AceDevs Collective Digital Twin</a:t>
            </a:r>
            <a:br/>
            <a:r>
              <a:t>Tactical Sci-Fi HUD Architecture</a:t>
            </a:r>
            <a:br/>
            <a:r>
              <a:t>Bhubaneswar, IN // Global Remote</a:t>
            </a:r>
            <a:br/>
            <a:r>
              <a:t>Live: 60 FPS WebGL + In-Memory 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DSA PROBLEM STATEMENT</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The Information Retrieval Bottleneck in Modern Web Apps</a:t>
            </a:r>
          </a:p>
          <a:p>
            <a:pPr>
              <a:spcBef>
                <a:spcPts val="300"/>
              </a:spcBef>
              <a:defRPr sz="1300">
                <a:solidFill>
                  <a:srgbClr val="94A3B8"/>
                </a:solidFill>
                <a:latin typeface="Calibri"/>
              </a:defRPr>
            </a:pPr>
            <a:r>
              <a:t>Why traditional linear searches and remote cloud services fail high-performance interactive cockpits.</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33756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971800" cy="548640"/>
          </a:xfrm>
          <a:prstGeom prst="rect">
            <a:avLst/>
          </a:prstGeom>
          <a:noFill/>
        </p:spPr>
        <p:txBody>
          <a:bodyPr wrap="square">
            <a:spAutoFit/>
          </a:bodyPr>
          <a:lstStyle/>
          <a:p>
            <a:pPr>
              <a:defRPr sz="1500" b="1">
                <a:solidFill>
                  <a:srgbClr val="D5E0FF"/>
                </a:solidFill>
                <a:latin typeface="Trebuchet MS"/>
              </a:defRPr>
            </a:pPr>
            <a:r>
              <a:t>1. Naive Array Linear Scans</a:t>
            </a:r>
          </a:p>
          <a:p>
            <a:pPr>
              <a:spcBef>
                <a:spcPts val="200"/>
              </a:spcBef>
              <a:defRPr sz="1000">
                <a:solidFill>
                  <a:srgbClr val="94A3B8"/>
                </a:solidFill>
                <a:latin typeface="Consolas"/>
              </a:defRPr>
            </a:pPr>
            <a:r>
              <a:t>Array.prototype.filter() // O(N) Complexity</a:t>
            </a:r>
          </a:p>
        </p:txBody>
      </p:sp>
      <p:sp>
        <p:nvSpPr>
          <p:cNvPr id="8" name="TextBox 7"/>
          <p:cNvSpPr txBox="1"/>
          <p:nvPr/>
        </p:nvSpPr>
        <p:spPr>
          <a:xfrm>
            <a:off x="914400" y="2651760"/>
            <a:ext cx="2971800" cy="3474720"/>
          </a:xfrm>
          <a:prstGeom prst="rect">
            <a:avLst/>
          </a:prstGeom>
          <a:noFill/>
        </p:spPr>
        <p:txBody>
          <a:bodyPr wrap="square">
            <a:spAutoFit/>
          </a:bodyPr>
          <a:lstStyle/>
          <a:p>
            <a:pPr>
              <a:spcAft>
                <a:spcPts val="1200"/>
              </a:spcAft>
            </a:pPr>
            <a:r>
              <a:rPr b="1" sz="1200">
                <a:solidFill>
                  <a:srgbClr val="D5E0FF"/>
                </a:solidFill>
              </a:rPr>
              <a:t>• Linear Time Degrades: </a:t>
            </a:r>
            <a:r>
              <a:rPr sz="1200">
                <a:solidFill>
                  <a:srgbClr val="94A3B8"/>
                </a:solidFill>
              </a:rPr>
              <a:t>Evaluates every document and string sequentially O(N * L).</a:t>
            </a:r>
          </a:p>
          <a:p>
            <a:pPr>
              <a:spcAft>
                <a:spcPts val="1200"/>
              </a:spcAft>
            </a:pPr>
            <a:r>
              <a:rPr b="1" sz="1200">
                <a:solidFill>
                  <a:srgbClr val="D5E0FF"/>
                </a:solidFill>
              </a:rPr>
              <a:t>• No Prefix Intelligence: </a:t>
            </a:r>
            <a:r>
              <a:rPr sz="1200">
                <a:solidFill>
                  <a:srgbClr val="94A3B8"/>
                </a:solidFill>
              </a:rPr>
              <a:t>Substring matching (includes) cannot perform structured prefix autocomplete.</a:t>
            </a:r>
          </a:p>
          <a:p>
            <a:pPr>
              <a:spcAft>
                <a:spcPts val="1200"/>
              </a:spcAft>
            </a:pPr>
            <a:r>
              <a:rPr b="1" sz="1200">
                <a:solidFill>
                  <a:srgbClr val="D5E0FF"/>
                </a:solidFill>
              </a:rPr>
              <a:t>• Multi-Tag Explosion: </a:t>
            </a:r>
            <a:r>
              <a:rPr sz="1200">
                <a:solidFill>
                  <a:srgbClr val="94A3B8"/>
                </a:solidFill>
              </a:rPr>
              <a:t>Filtering by multiple tags requires nested passes O(N * T), freezing UI frames.</a:t>
            </a:r>
          </a:p>
          <a:p>
            <a:pPr>
              <a:spcAft>
                <a:spcPts val="1200"/>
              </a:spcAft>
            </a:pPr>
            <a:r>
              <a:rPr b="1" sz="1200">
                <a:solidFill>
                  <a:srgbClr val="D5E0FF"/>
                </a:solidFill>
              </a:rPr>
              <a:t>• Frame Dropping: </a:t>
            </a:r>
            <a:r>
              <a:rPr sz="1200">
                <a:solidFill>
                  <a:srgbClr val="94A3B8"/>
                </a:solidFill>
              </a:rPr>
              <a:t>Triggers layout jank and drops frame rates below 60 FPS in interactive WebGL environments.</a:t>
            </a:r>
          </a:p>
        </p:txBody>
      </p:sp>
      <p:sp>
        <p:nvSpPr>
          <p:cNvPr id="9" name="Rectangle 8"/>
          <p:cNvSpPr/>
          <p:nvPr/>
        </p:nvSpPr>
        <p:spPr>
          <a:xfrm>
            <a:off x="4416552" y="1828800"/>
            <a:ext cx="333756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965960"/>
            <a:ext cx="2971800" cy="548640"/>
          </a:xfrm>
          <a:prstGeom prst="rect">
            <a:avLst/>
          </a:prstGeom>
          <a:noFill/>
        </p:spPr>
        <p:txBody>
          <a:bodyPr wrap="square">
            <a:spAutoFit/>
          </a:bodyPr>
          <a:lstStyle/>
          <a:p>
            <a:pPr>
              <a:defRPr sz="1500" b="1">
                <a:solidFill>
                  <a:srgbClr val="D5E0FF"/>
                </a:solidFill>
                <a:latin typeface="Trebuchet MS"/>
              </a:defRPr>
            </a:pPr>
            <a:r>
              <a:t>2. Cloud Search Dependency</a:t>
            </a:r>
          </a:p>
          <a:p>
            <a:pPr>
              <a:spcBef>
                <a:spcPts val="200"/>
              </a:spcBef>
              <a:defRPr sz="1000">
                <a:solidFill>
                  <a:srgbClr val="94A3B8"/>
                </a:solidFill>
                <a:latin typeface="Consolas"/>
              </a:defRPr>
            </a:pPr>
            <a:r>
              <a:t>Algolia / Elastic / MeiliSearch APIs</a:t>
            </a:r>
          </a:p>
        </p:txBody>
      </p:sp>
      <p:sp>
        <p:nvSpPr>
          <p:cNvPr id="11" name="TextBox 10"/>
          <p:cNvSpPr txBox="1"/>
          <p:nvPr/>
        </p:nvSpPr>
        <p:spPr>
          <a:xfrm>
            <a:off x="4599432" y="2651760"/>
            <a:ext cx="2971800" cy="3474720"/>
          </a:xfrm>
          <a:prstGeom prst="rect">
            <a:avLst/>
          </a:prstGeom>
          <a:noFill/>
        </p:spPr>
        <p:txBody>
          <a:bodyPr wrap="square">
            <a:spAutoFit/>
          </a:bodyPr>
          <a:lstStyle/>
          <a:p>
            <a:pPr>
              <a:spcAft>
                <a:spcPts val="1200"/>
              </a:spcAft>
            </a:pPr>
            <a:r>
              <a:rPr b="1" sz="1200">
                <a:solidFill>
                  <a:srgbClr val="D5E0FF"/>
                </a:solidFill>
              </a:rPr>
              <a:t>• Network Roundtrip Latency: </a:t>
            </a:r>
            <a:r>
              <a:rPr sz="1200">
                <a:solidFill>
                  <a:srgbClr val="94A3B8"/>
                </a:solidFill>
              </a:rPr>
              <a:t>150ms - 400ms HTTP roundtrip per keystroke eliminates tactile feel.</a:t>
            </a:r>
          </a:p>
          <a:p>
            <a:pPr>
              <a:spcAft>
                <a:spcPts val="1200"/>
              </a:spcAft>
            </a:pPr>
            <a:r>
              <a:rPr b="1" sz="1200">
                <a:solidFill>
                  <a:srgbClr val="D5E0FF"/>
                </a:solidFill>
              </a:rPr>
              <a:t>• API Rate Limits &amp; Quotas: </a:t>
            </a:r>
            <a:r>
              <a:rPr sz="1200">
                <a:solidFill>
                  <a:srgbClr val="94A3B8"/>
                </a:solidFill>
              </a:rPr>
              <a:t>Commercial quotas and per-query costs restrict rapid autocomplete debouncing.</a:t>
            </a:r>
          </a:p>
          <a:p>
            <a:pPr>
              <a:spcAft>
                <a:spcPts val="1200"/>
              </a:spcAft>
            </a:pPr>
            <a:r>
              <a:rPr b="1" sz="1200">
                <a:solidFill>
                  <a:srgbClr val="D5E0FF"/>
                </a:solidFill>
              </a:rPr>
              <a:t>• Offline Fragility: </a:t>
            </a:r>
            <a:r>
              <a:rPr sz="1200">
                <a:solidFill>
                  <a:srgbClr val="94A3B8"/>
                </a:solidFill>
              </a:rPr>
              <a:t>Network interruptions cause catastrophic search blackouts in offline demos.</a:t>
            </a:r>
          </a:p>
          <a:p>
            <a:pPr>
              <a:spcAft>
                <a:spcPts val="1200"/>
              </a:spcAft>
            </a:pPr>
            <a:r>
              <a:rPr b="1" sz="1200">
                <a:solidFill>
                  <a:srgbClr val="D5E0FF"/>
                </a:solidFill>
              </a:rPr>
              <a:t>• Security Exposure: </a:t>
            </a:r>
            <a:r>
              <a:rPr sz="1200">
                <a:solidFill>
                  <a:srgbClr val="94A3B8"/>
                </a:solidFill>
              </a:rPr>
              <a:t>Requires publishing search API tokens, creating attack vectors.</a:t>
            </a:r>
          </a:p>
        </p:txBody>
      </p:sp>
      <p:sp>
        <p:nvSpPr>
          <p:cNvPr id="12" name="Rectangle 11"/>
          <p:cNvSpPr/>
          <p:nvPr/>
        </p:nvSpPr>
        <p:spPr>
          <a:xfrm>
            <a:off x="8101584" y="1828800"/>
            <a:ext cx="333756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1965960"/>
            <a:ext cx="2971800" cy="548640"/>
          </a:xfrm>
          <a:prstGeom prst="rect">
            <a:avLst/>
          </a:prstGeom>
          <a:noFill/>
        </p:spPr>
        <p:txBody>
          <a:bodyPr wrap="square">
            <a:spAutoFit/>
          </a:bodyPr>
          <a:lstStyle/>
          <a:p>
            <a:pPr>
              <a:defRPr sz="1500" b="1">
                <a:solidFill>
                  <a:srgbClr val="D5E0FF"/>
                </a:solidFill>
                <a:latin typeface="Trebuchet MS"/>
              </a:defRPr>
            </a:pPr>
            <a:r>
              <a:t>3. The In-Memory DSA Engine</a:t>
            </a:r>
          </a:p>
          <a:p>
            <a:pPr>
              <a:spcBef>
                <a:spcPts val="200"/>
              </a:spcBef>
              <a:defRPr sz="1000">
                <a:solidFill>
                  <a:srgbClr val="94A3B8"/>
                </a:solidFill>
                <a:latin typeface="Consolas"/>
              </a:defRPr>
            </a:pPr>
            <a:r>
              <a:t>Dual Prefix Trie + Inverted Index</a:t>
            </a:r>
          </a:p>
        </p:txBody>
      </p:sp>
      <p:sp>
        <p:nvSpPr>
          <p:cNvPr id="14" name="TextBox 13"/>
          <p:cNvSpPr txBox="1"/>
          <p:nvPr/>
        </p:nvSpPr>
        <p:spPr>
          <a:xfrm>
            <a:off x="8284464" y="2651760"/>
            <a:ext cx="2971800" cy="3474720"/>
          </a:xfrm>
          <a:prstGeom prst="rect">
            <a:avLst/>
          </a:prstGeom>
          <a:noFill/>
        </p:spPr>
        <p:txBody>
          <a:bodyPr wrap="square">
            <a:spAutoFit/>
          </a:bodyPr>
          <a:lstStyle/>
          <a:p>
            <a:pPr>
              <a:spcAft>
                <a:spcPts val="1200"/>
              </a:spcAft>
            </a:pPr>
            <a:r>
              <a:rPr b="1" sz="1200">
                <a:solidFill>
                  <a:srgbClr val="34D399"/>
                </a:solidFill>
              </a:rPr>
              <a:t>• Sub-Millisecond Response: </a:t>
            </a:r>
            <a:r>
              <a:rPr sz="1200">
                <a:solidFill>
                  <a:srgbClr val="94A3B8"/>
                </a:solidFill>
              </a:rPr>
              <a:t>Executes queries in &lt; 1.5ms directly on browser CPU heap.</a:t>
            </a:r>
          </a:p>
          <a:p>
            <a:pPr>
              <a:spcAft>
                <a:spcPts val="1200"/>
              </a:spcAft>
            </a:pPr>
            <a:r>
              <a:rPr b="1" sz="1200">
                <a:solidFill>
                  <a:srgbClr val="34D399"/>
                </a:solidFill>
              </a:rPr>
              <a:t>• O(k) Autocomplete: </a:t>
            </a:r>
            <a:r>
              <a:rPr sz="1200">
                <a:solidFill>
                  <a:srgbClr val="94A3B8"/>
                </a:solidFill>
              </a:rPr>
              <a:t>Trie tree traversal bounded purely by token length k, invariant to corpus size N.</a:t>
            </a:r>
          </a:p>
          <a:p>
            <a:pPr>
              <a:spcAft>
                <a:spcPts val="1200"/>
              </a:spcAft>
            </a:pPr>
            <a:r>
              <a:rPr b="1" sz="1200">
                <a:solidFill>
                  <a:srgbClr val="34D399"/>
                </a:solidFill>
              </a:rPr>
              <a:t>• Set Intersection Logic: </a:t>
            </a:r>
            <a:r>
              <a:rPr sz="1200">
                <a:solidFill>
                  <a:srgbClr val="94A3B8"/>
                </a:solidFill>
              </a:rPr>
              <a:t>Inverted posting lists yield instantaneous boolean AND / OR tag multi-filtering.</a:t>
            </a:r>
          </a:p>
          <a:p>
            <a:pPr>
              <a:spcAft>
                <a:spcPts val="1200"/>
              </a:spcAft>
            </a:pPr>
            <a:r>
              <a:rPr b="1" sz="1200">
                <a:solidFill>
                  <a:srgbClr val="34D399"/>
                </a:solidFill>
              </a:rPr>
              <a:t>• 100% Zero Dependency: </a:t>
            </a:r>
            <a:r>
              <a:rPr sz="1200">
                <a:solidFill>
                  <a:srgbClr val="94A3B8"/>
                </a:solidFill>
              </a:rPr>
              <a:t>Self-contained vanilla ES6 algorithms without bloated npm search dependencies.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ALGORITHMIC ARCHITECTURE</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Hybrid Dual-Engine Architecture &amp; Pipeline</a:t>
            </a:r>
          </a:p>
          <a:p>
            <a:pPr>
              <a:spcBef>
                <a:spcPts val="300"/>
              </a:spcBef>
              <a:defRPr sz="1300">
                <a:solidFill>
                  <a:srgbClr val="94A3B8"/>
                </a:solidFill>
                <a:latin typeface="Calibri"/>
              </a:defRPr>
            </a:pPr>
            <a:r>
              <a:t>Combining associative Prefix Trees and Inverted Posting Lists for unified entity retrieval.</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516636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800600" cy="548640"/>
          </a:xfrm>
          <a:prstGeom prst="rect">
            <a:avLst/>
          </a:prstGeom>
          <a:noFill/>
        </p:spPr>
        <p:txBody>
          <a:bodyPr wrap="square">
            <a:spAutoFit/>
          </a:bodyPr>
          <a:lstStyle/>
          <a:p>
            <a:pPr>
              <a:defRPr sz="1500" b="1">
                <a:solidFill>
                  <a:srgbClr val="D5E0FF"/>
                </a:solidFill>
                <a:latin typeface="Trebuchet MS"/>
              </a:defRPr>
            </a:pPr>
            <a:r>
              <a:t>Engine A: Prefix Trie (PrefixTrie.js)</a:t>
            </a:r>
          </a:p>
          <a:p>
            <a:pPr>
              <a:spcBef>
                <a:spcPts val="200"/>
              </a:spcBef>
              <a:defRPr sz="1000">
                <a:solidFill>
                  <a:srgbClr val="94A3B8"/>
                </a:solidFill>
                <a:latin typeface="Consolas"/>
              </a:defRPr>
            </a:pPr>
            <a:r>
              <a:t>Sub-millisecond prefix completion &amp; token ranking</a:t>
            </a:r>
          </a:p>
        </p:txBody>
      </p:sp>
      <p:sp>
        <p:nvSpPr>
          <p:cNvPr id="8" name="TextBox 7"/>
          <p:cNvSpPr txBox="1"/>
          <p:nvPr/>
        </p:nvSpPr>
        <p:spPr>
          <a:xfrm>
            <a:off x="914400" y="2606040"/>
            <a:ext cx="4800600" cy="3474720"/>
          </a:xfrm>
          <a:prstGeom prst="rect">
            <a:avLst/>
          </a:prstGeom>
          <a:noFill/>
        </p:spPr>
        <p:txBody>
          <a:bodyPr wrap="square">
            <a:spAutoFit/>
          </a:bodyPr>
          <a:lstStyle/>
          <a:p>
            <a:pPr>
              <a:spcAft>
                <a:spcPts val="800"/>
              </a:spcAft>
              <a:defRPr sz="1100" b="1">
                <a:solidFill>
                  <a:srgbClr val="60A5FA"/>
                </a:solidFill>
                <a:latin typeface="Consolas"/>
              </a:defRPr>
            </a:pPr>
            <a:r>
              <a:t>PRIMARY MISSION: INSTANT TOKEN AUTOCOMPLETE</a:t>
            </a:r>
          </a:p>
          <a:p>
            <a:pPr>
              <a:spcAft>
                <a:spcPts val="600"/>
              </a:spcAft>
            </a:pPr>
            <a:r>
              <a:rPr b="1" sz="1200">
                <a:solidFill>
                  <a:srgbClr val="D5E0FF"/>
                </a:solidFill>
              </a:rPr>
              <a:t>► Structure: </a:t>
            </a:r>
            <a:r>
              <a:rPr sz="1200">
                <a:solidFill>
                  <a:srgbClr val="94A3B8"/>
                </a:solidFill>
              </a:rPr>
              <a:t>Root TrieNode branching down a Map&lt;char, TrieNode&gt; character tree.</a:t>
            </a:r>
          </a:p>
          <a:p>
            <a:pPr>
              <a:spcAft>
                <a:spcPts val="600"/>
              </a:spcAft>
            </a:pPr>
            <a:r>
              <a:rPr b="1" sz="1200">
                <a:solidFill>
                  <a:srgbClr val="D5E0FF"/>
                </a:solidFill>
              </a:rPr>
              <a:t>► Insertion: </a:t>
            </a:r>
            <a:r>
              <a:rPr sz="1200">
                <a:solidFill>
                  <a:srgbClr val="94A3B8"/>
                </a:solidFill>
              </a:rPr>
              <a:t>Tokens inserted character-by-character with associated Document IDs and frequency weights.</a:t>
            </a:r>
          </a:p>
          <a:p>
            <a:pPr>
              <a:spcAft>
                <a:spcPts val="600"/>
              </a:spcAft>
            </a:pPr>
            <a:r>
              <a:rPr b="1" sz="1200">
                <a:solidFill>
                  <a:srgbClr val="D5E0FF"/>
                </a:solidFill>
              </a:rPr>
              <a:t>► Prefix Traversal: </a:t>
            </a:r>
            <a:r>
              <a:rPr sz="1200">
                <a:solidFill>
                  <a:srgbClr val="94A3B8"/>
                </a:solidFill>
              </a:rPr>
              <a:t>Traverses exactly k steps to locate prefix subtree node in O(k) time.</a:t>
            </a:r>
          </a:p>
          <a:p>
            <a:pPr>
              <a:spcAft>
                <a:spcPts val="600"/>
              </a:spcAft>
            </a:pPr>
            <a:r>
              <a:rPr b="1" sz="1200">
                <a:solidFill>
                  <a:srgbClr val="D5E0FF"/>
                </a:solidFill>
              </a:rPr>
              <a:t>► Bounded DFS Collector: </a:t>
            </a:r>
            <a:r>
              <a:rPr sz="1200">
                <a:solidFill>
                  <a:srgbClr val="94A3B8"/>
                </a:solidFill>
              </a:rPr>
              <a:t>Performs depth-first search (DFS) over subtree to collect top 8 suggestions.</a:t>
            </a:r>
          </a:p>
          <a:p>
            <a:pPr>
              <a:spcAft>
                <a:spcPts val="600"/>
              </a:spcAft>
            </a:pPr>
            <a:r>
              <a:rPr b="1" sz="1200">
                <a:solidFill>
                  <a:srgbClr val="D5E0FF"/>
                </a:solidFill>
              </a:rPr>
              <a:t>► Output: </a:t>
            </a:r>
            <a:r>
              <a:rPr sz="1200">
                <a:solidFill>
                  <a:srgbClr val="94A3B8"/>
                </a:solidFill>
              </a:rPr>
              <a:t>Returns suggested completion terms, term frequency, and linked entity IDs.</a:t>
            </a:r>
          </a:p>
        </p:txBody>
      </p:sp>
      <p:sp>
        <p:nvSpPr>
          <p:cNvPr id="9" name="Rectangle 8"/>
          <p:cNvSpPr/>
          <p:nvPr/>
        </p:nvSpPr>
        <p:spPr>
          <a:xfrm>
            <a:off x="6263640" y="1828800"/>
            <a:ext cx="516636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65960"/>
            <a:ext cx="4800600" cy="548640"/>
          </a:xfrm>
          <a:prstGeom prst="rect">
            <a:avLst/>
          </a:prstGeom>
          <a:noFill/>
        </p:spPr>
        <p:txBody>
          <a:bodyPr wrap="square">
            <a:spAutoFit/>
          </a:bodyPr>
          <a:lstStyle/>
          <a:p>
            <a:pPr>
              <a:defRPr sz="1500" b="1">
                <a:solidFill>
                  <a:srgbClr val="D5E0FF"/>
                </a:solidFill>
                <a:latin typeface="Trebuchet MS"/>
              </a:defRPr>
            </a:pPr>
            <a:r>
              <a:t>Engine B: Inverted Index (InvertedIndex.js)</a:t>
            </a:r>
          </a:p>
          <a:p>
            <a:pPr>
              <a:spcBef>
                <a:spcPts val="200"/>
              </a:spcBef>
              <a:defRPr sz="1000">
                <a:solidFill>
                  <a:srgbClr val="94A3B8"/>
                </a:solidFill>
                <a:latin typeface="Consolas"/>
              </a:defRPr>
            </a:pPr>
            <a:r>
              <a:t>Multi-tag posting lists &amp; boolean set intersection</a:t>
            </a:r>
          </a:p>
        </p:txBody>
      </p:sp>
      <p:sp>
        <p:nvSpPr>
          <p:cNvPr id="11" name="TextBox 10"/>
          <p:cNvSpPr txBox="1"/>
          <p:nvPr/>
        </p:nvSpPr>
        <p:spPr>
          <a:xfrm>
            <a:off x="6446520" y="2606040"/>
            <a:ext cx="4800600" cy="3474720"/>
          </a:xfrm>
          <a:prstGeom prst="rect">
            <a:avLst/>
          </a:prstGeom>
          <a:noFill/>
        </p:spPr>
        <p:txBody>
          <a:bodyPr wrap="square">
            <a:spAutoFit/>
          </a:bodyPr>
          <a:lstStyle/>
          <a:p>
            <a:pPr>
              <a:spcAft>
                <a:spcPts val="800"/>
              </a:spcAft>
              <a:defRPr sz="1100" b="1">
                <a:solidFill>
                  <a:srgbClr val="34D399"/>
                </a:solidFill>
                <a:latin typeface="Consolas"/>
              </a:defRPr>
            </a:pPr>
            <a:r>
              <a:t>PRIMARY MISSION: MULTI-TAG &amp; BOOLEAN ENTITY RETRIEVAL</a:t>
            </a:r>
          </a:p>
          <a:p>
            <a:pPr>
              <a:spcAft>
                <a:spcPts val="600"/>
              </a:spcAft>
            </a:pPr>
            <a:r>
              <a:rPr b="1" sz="1200">
                <a:solidFill>
                  <a:srgbClr val="34D399"/>
                </a:solidFill>
              </a:rPr>
              <a:t>► Posting Lists: </a:t>
            </a:r>
            <a:r>
              <a:rPr sz="1200">
                <a:solidFill>
                  <a:srgbClr val="94A3B8"/>
                </a:solidFill>
              </a:rPr>
              <a:t>Dictionary mapping terms &amp; taxonomy tags to Document ID Sets: Map&lt;string, Set&lt;id&gt;&gt;.</a:t>
            </a:r>
          </a:p>
          <a:p>
            <a:pPr>
              <a:spcAft>
                <a:spcPts val="600"/>
              </a:spcAft>
            </a:pPr>
            <a:r>
              <a:rPr b="1" sz="1200">
                <a:solidFill>
                  <a:srgbClr val="34D399"/>
                </a:solidFill>
              </a:rPr>
              <a:t>► Tokenization Engine: </a:t>
            </a:r>
            <a:r>
              <a:rPr sz="1200">
                <a:solidFill>
                  <a:srgbClr val="94A3B8"/>
                </a:solidFill>
              </a:rPr>
              <a:t>Lowercases, trims, and cleans punctuation into normalized term vectors.</a:t>
            </a:r>
          </a:p>
          <a:p>
            <a:pPr>
              <a:spcAft>
                <a:spcPts val="600"/>
              </a:spcAft>
            </a:pPr>
            <a:r>
              <a:rPr b="1" sz="1200">
                <a:solidFill>
                  <a:srgbClr val="34D399"/>
                </a:solidFill>
              </a:rPr>
              <a:t>► Boolean AND (Conjunction): </a:t>
            </a:r>
            <a:r>
              <a:rPr sz="1200">
                <a:solidFill>
                  <a:srgbClr val="94A3B8"/>
                </a:solidFill>
              </a:rPr>
              <a:t>Computes exact set intersection P1 ∩ P2 ∩ ... ∩ Pn in O(min(|Pi|)).</a:t>
            </a:r>
          </a:p>
          <a:p>
            <a:pPr>
              <a:spcAft>
                <a:spcPts val="600"/>
              </a:spcAft>
            </a:pPr>
            <a:r>
              <a:rPr b="1" sz="1200">
                <a:solidFill>
                  <a:srgbClr val="34D399"/>
                </a:solidFill>
              </a:rPr>
              <a:t>► Boolean OR (Disjunction): </a:t>
            </a:r>
            <a:r>
              <a:rPr sz="1200">
                <a:solidFill>
                  <a:srgbClr val="94A3B8"/>
                </a:solidFill>
              </a:rPr>
              <a:t>Computes set union P1 ∪ P2 with term relevance weighting fallback.</a:t>
            </a:r>
          </a:p>
          <a:p>
            <a:pPr>
              <a:spcAft>
                <a:spcPts val="600"/>
              </a:spcAft>
            </a:pPr>
            <a:r>
              <a:rPr b="1" sz="1200">
                <a:solidFill>
                  <a:srgbClr val="34D399"/>
                </a:solidFill>
              </a:rPr>
              <a:t>► Document Registry: </a:t>
            </a:r>
            <a:r>
              <a:rPr sz="1200">
                <a:solidFill>
                  <a:srgbClr val="94A3B8"/>
                </a:solidFill>
              </a:rPr>
              <a:t>Resolves matching IDs into rich entity cards (Developers, Repos, Articles).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DATA STRUCTURE SPECIFICATION 01</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Prefix Trie Anatomy &amp; Tree Traversal Mechanics</a:t>
            </a:r>
          </a:p>
          <a:p>
            <a:pPr>
              <a:spcBef>
                <a:spcPts val="300"/>
              </a:spcBef>
              <a:defRPr sz="1300">
                <a:solidFill>
                  <a:srgbClr val="94A3B8"/>
                </a:solidFill>
                <a:latin typeface="Calibri"/>
              </a:defRPr>
            </a:pPr>
            <a:r>
              <a:t>Mathematical model, node memory layout, and DFS bounded prefix expansion.</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521208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846320" cy="548640"/>
          </a:xfrm>
          <a:prstGeom prst="rect">
            <a:avLst/>
          </a:prstGeom>
          <a:noFill/>
        </p:spPr>
        <p:txBody>
          <a:bodyPr wrap="square">
            <a:spAutoFit/>
          </a:bodyPr>
          <a:lstStyle/>
          <a:p>
            <a:pPr>
              <a:defRPr sz="1500" b="1">
                <a:solidFill>
                  <a:srgbClr val="D5E0FF"/>
                </a:solidFill>
                <a:latin typeface="Trebuchet MS"/>
              </a:defRPr>
            </a:pPr>
            <a:r>
              <a:t>TrieNode Object Schema</a:t>
            </a:r>
          </a:p>
          <a:p>
            <a:pPr>
              <a:spcBef>
                <a:spcPts val="200"/>
              </a:spcBef>
              <a:defRPr sz="1000">
                <a:solidFill>
                  <a:srgbClr val="94A3B8"/>
                </a:solidFill>
                <a:latin typeface="Consolas"/>
              </a:defRPr>
            </a:pPr>
            <a:r>
              <a:t>Memory layout per node in JavaScript heap</a:t>
            </a:r>
          </a:p>
        </p:txBody>
      </p:sp>
      <p:sp>
        <p:nvSpPr>
          <p:cNvPr id="8" name="TextBox 7"/>
          <p:cNvSpPr txBox="1"/>
          <p:nvPr/>
        </p:nvSpPr>
        <p:spPr>
          <a:xfrm>
            <a:off x="914400" y="2606040"/>
            <a:ext cx="4846320" cy="3474720"/>
          </a:xfrm>
          <a:prstGeom prst="rect">
            <a:avLst/>
          </a:prstGeom>
          <a:noFill/>
        </p:spPr>
        <p:txBody>
          <a:bodyPr wrap="square">
            <a:spAutoFit/>
          </a:bodyPr>
          <a:lstStyle/>
          <a:p>
            <a:pPr>
              <a:defRPr sz="1050">
                <a:solidFill>
                  <a:srgbClr val="D5E0FF"/>
                </a:solidFill>
                <a:latin typeface="Consolas"/>
              </a:defRPr>
            </a:pPr>
            <a:r>
              <a:t>class TrieNode {</a:t>
            </a:r>
          </a:p>
          <a:p>
            <a:pPr>
              <a:defRPr sz="1050">
                <a:solidFill>
                  <a:srgbClr val="60A5FA"/>
                </a:solidFill>
                <a:latin typeface="Consolas"/>
              </a:defRPr>
            </a:pPr>
            <a:r>
              <a:t>  constructor() {</a:t>
            </a:r>
          </a:p>
          <a:p>
            <a:pPr>
              <a:defRPr sz="1050">
                <a:solidFill>
                  <a:srgbClr val="94A3B8"/>
                </a:solidFill>
                <a:latin typeface="Consolas"/>
              </a:defRPr>
            </a:pPr>
            <a:r>
              <a:t>    // Dynamic hash map branching for any character</a:t>
            </a:r>
          </a:p>
          <a:p>
            <a:pPr>
              <a:defRPr sz="1050">
                <a:solidFill>
                  <a:srgbClr val="D5E0FF"/>
                </a:solidFill>
                <a:latin typeface="Consolas"/>
              </a:defRPr>
            </a:pPr>
            <a:r>
              <a:t>    this.children = new Map(); // Map&lt;char, TrieNode&gt;</a:t>
            </a:r>
          </a:p>
          <a:p>
            <a:pPr>
              <a:defRPr sz="1050">
                <a:solidFill>
                  <a:srgbClr val="60A5FA"/>
                </a:solidFill>
                <a:latin typeface="Consolas"/>
              </a:defRPr>
            </a:pPr>
            <a:r>
              <a:t>    </a:t>
            </a:r>
          </a:p>
          <a:p>
            <a:pPr>
              <a:defRPr sz="1050">
                <a:solidFill>
                  <a:srgbClr val="94A3B8"/>
                </a:solidFill>
                <a:latin typeface="Consolas"/>
              </a:defRPr>
            </a:pPr>
            <a:r>
              <a:t>    // Flag indicating valid indexed word completion</a:t>
            </a:r>
          </a:p>
          <a:p>
            <a:pPr>
              <a:defRPr sz="1050">
                <a:solidFill>
                  <a:srgbClr val="D5E0FF"/>
                </a:solidFill>
                <a:latin typeface="Consolas"/>
              </a:defRPr>
            </a:pPr>
            <a:r>
              <a:t>    this.isWord = false;</a:t>
            </a:r>
          </a:p>
          <a:p>
            <a:pPr>
              <a:defRPr sz="1050">
                <a:solidFill>
                  <a:srgbClr val="D5E0FF"/>
                </a:solidFill>
                <a:latin typeface="Consolas"/>
              </a:defRPr>
            </a:pPr>
            <a:r>
              <a:t>    this.word = null;          // Normalized token string</a:t>
            </a:r>
          </a:p>
          <a:p>
            <a:pPr>
              <a:defRPr sz="1050">
                <a:solidFill>
                  <a:srgbClr val="60A5FA"/>
                </a:solidFill>
                <a:latin typeface="Consolas"/>
              </a:defRPr>
            </a:pPr>
            <a:r>
              <a:t>    </a:t>
            </a:r>
          </a:p>
          <a:p>
            <a:pPr>
              <a:defRPr sz="1050">
                <a:solidFill>
                  <a:srgbClr val="94A3B8"/>
                </a:solidFill>
                <a:latin typeface="Consolas"/>
              </a:defRPr>
            </a:pPr>
            <a:r>
              <a:t>    // Linked entity documents matching this token</a:t>
            </a:r>
          </a:p>
          <a:p>
            <a:pPr>
              <a:defRPr sz="1050">
                <a:solidFill>
                  <a:srgbClr val="D5E0FF"/>
                </a:solidFill>
                <a:latin typeface="Consolas"/>
              </a:defRPr>
            </a:pPr>
            <a:r>
              <a:t>    this.entityIds = new Set();// Set&lt;string|number&gt;</a:t>
            </a:r>
          </a:p>
          <a:p>
            <a:pPr>
              <a:defRPr sz="1050">
                <a:solidFill>
                  <a:srgbClr val="60A5FA"/>
                </a:solidFill>
                <a:latin typeface="Consolas"/>
              </a:defRPr>
            </a:pPr>
            <a:r>
              <a:t>    </a:t>
            </a:r>
          </a:p>
          <a:p>
            <a:pPr>
              <a:defRPr sz="1050">
                <a:solidFill>
                  <a:srgbClr val="94A3B8"/>
                </a:solidFill>
                <a:latin typeface="Consolas"/>
              </a:defRPr>
            </a:pPr>
            <a:r>
              <a:t>    // Frequency count for relevance scoring</a:t>
            </a:r>
          </a:p>
          <a:p>
            <a:pPr>
              <a:defRPr sz="1050">
                <a:solidFill>
                  <a:srgbClr val="D5E0FF"/>
                </a:solidFill>
                <a:latin typeface="Consolas"/>
              </a:defRPr>
            </a:pPr>
            <a:r>
              <a:t>    this.frequency = 0;</a:t>
            </a:r>
          </a:p>
          <a:p>
            <a:pPr>
              <a:defRPr sz="1050">
                <a:solidFill>
                  <a:srgbClr val="60A5FA"/>
                </a:solidFill>
                <a:latin typeface="Consolas"/>
              </a:defRPr>
            </a:pPr>
            <a:r>
              <a:t>  }</a:t>
            </a:r>
          </a:p>
          <a:p>
            <a:pPr>
              <a:defRPr sz="1050">
                <a:solidFill>
                  <a:srgbClr val="60A5FA"/>
                </a:solidFill>
                <a:latin typeface="Consolas"/>
              </a:defRPr>
            </a:pPr>
            <a:r>
              <a:t>}</a:t>
            </a:r>
          </a:p>
        </p:txBody>
      </p:sp>
      <p:sp>
        <p:nvSpPr>
          <p:cNvPr id="9" name="Rectangle 8"/>
          <p:cNvSpPr/>
          <p:nvPr/>
        </p:nvSpPr>
        <p:spPr>
          <a:xfrm>
            <a:off x="6217920" y="1828800"/>
            <a:ext cx="521208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846320" cy="548640"/>
          </a:xfrm>
          <a:prstGeom prst="rect">
            <a:avLst/>
          </a:prstGeom>
          <a:noFill/>
        </p:spPr>
        <p:txBody>
          <a:bodyPr wrap="square">
            <a:spAutoFit/>
          </a:bodyPr>
          <a:lstStyle/>
          <a:p>
            <a:pPr>
              <a:defRPr sz="1500" b="1">
                <a:solidFill>
                  <a:srgbClr val="D5E0FF"/>
                </a:solidFill>
                <a:latin typeface="Trebuchet MS"/>
              </a:defRPr>
            </a:pPr>
            <a:r>
              <a:t>Algorithmic Complexity &amp; DFS Mechanics</a:t>
            </a:r>
          </a:p>
          <a:p>
            <a:pPr>
              <a:spcBef>
                <a:spcPts val="200"/>
              </a:spcBef>
              <a:defRPr sz="1000">
                <a:solidFill>
                  <a:srgbClr val="94A3B8"/>
                </a:solidFill>
                <a:latin typeface="Consolas"/>
              </a:defRPr>
            </a:pPr>
            <a:r>
              <a:t>Formal Big-O proofs and execution lifecycle</a:t>
            </a:r>
          </a:p>
        </p:txBody>
      </p:sp>
      <p:sp>
        <p:nvSpPr>
          <p:cNvPr id="11" name="TextBox 10"/>
          <p:cNvSpPr txBox="1"/>
          <p:nvPr/>
        </p:nvSpPr>
        <p:spPr>
          <a:xfrm>
            <a:off x="6400800" y="2606040"/>
            <a:ext cx="4846320" cy="3474720"/>
          </a:xfrm>
          <a:prstGeom prst="rect">
            <a:avLst/>
          </a:prstGeom>
          <a:noFill/>
        </p:spPr>
        <p:txBody>
          <a:bodyPr wrap="square">
            <a:spAutoFit/>
          </a:bodyPr>
          <a:lstStyle/>
          <a:p>
            <a:pPr>
              <a:spcAft>
                <a:spcPts val="800"/>
              </a:spcAft>
            </a:pPr>
            <a:r>
              <a:rPr b="1" sz="1150">
                <a:solidFill>
                  <a:srgbClr val="34D399"/>
                </a:solidFill>
              </a:rPr>
              <a:t>Insert Operation — O(k):
</a:t>
            </a:r>
            <a:r>
              <a:rPr sz="1100">
                <a:solidFill>
                  <a:srgbClr val="94A3B8"/>
                </a:solidFill>
              </a:rPr>
              <a:t>Traverses k character nodes from root. Creates missing child nodes in O(1) amortized map time. Sets isWord = true, attaches entityId in O(1).</a:t>
            </a:r>
          </a:p>
          <a:p>
            <a:pPr>
              <a:spcAft>
                <a:spcPts val="800"/>
              </a:spcAft>
            </a:pPr>
            <a:r>
              <a:rPr b="1" sz="1150">
                <a:solidFill>
                  <a:srgbClr val="34D399"/>
                </a:solidFill>
              </a:rPr>
              <a:t>Exact Search — O(k):
</a:t>
            </a:r>
            <a:r>
              <a:rPr sz="1100">
                <a:solidFill>
                  <a:srgbClr val="94A3B8"/>
                </a:solidFill>
              </a:rPr>
              <a:t>Follows character pointers for token length k. If any character pointer is absent, terminates immediately in &lt; k steps without inspecting unrelated branches.</a:t>
            </a:r>
          </a:p>
          <a:p>
            <a:pPr>
              <a:spcAft>
                <a:spcPts val="800"/>
              </a:spcAft>
            </a:pPr>
            <a:r>
              <a:rPr b="1" sz="1150">
                <a:solidFill>
                  <a:srgbClr val="34D399"/>
                </a:solidFill>
              </a:rPr>
              <a:t>Prefix Autocomplete — O(k + m):
</a:t>
            </a:r>
            <a:r>
              <a:rPr sz="1100">
                <a:solidFill>
                  <a:srgbClr val="94A3B8"/>
                </a:solidFill>
              </a:rPr>
              <a:t>1. Root traversal to prefix node takes exactly k steps.
2. Bounded DFS explores descendant subtree to collect m words.
3. Bound limit = 8 guarantees constant upper-bound response time.</a:t>
            </a:r>
          </a:p>
          <a:p>
            <a:pPr>
              <a:spcAft>
                <a:spcPts val="800"/>
              </a:spcAft>
            </a:pPr>
            <a:r>
              <a:rPr b="1" sz="1150">
                <a:solidFill>
                  <a:srgbClr val="34D399"/>
                </a:solidFill>
              </a:rPr>
              <a:t>Space Complexity — O(Σ · k · N):
</a:t>
            </a:r>
            <a:r>
              <a:rPr sz="1100">
                <a:solidFill>
                  <a:srgbClr val="94A3B8"/>
                </a:solidFill>
              </a:rPr>
              <a:t>Where Σ is alphabet size and N is indexed vocabulary. Map branching stores only active paths, saving ~72% memory compared to 26-element fixed pointer arrays.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DATA STRUCTURE SPECIFICATION 02</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Inverted Index &amp; Boolean Posting List Intersections</a:t>
            </a:r>
          </a:p>
          <a:p>
            <a:pPr>
              <a:spcBef>
                <a:spcPts val="300"/>
              </a:spcBef>
              <a:defRPr sz="1300">
                <a:solidFill>
                  <a:srgbClr val="94A3B8"/>
                </a:solidFill>
                <a:latin typeface="Calibri"/>
              </a:defRPr>
            </a:pPr>
            <a:r>
              <a:t>How document metadata and taxonomy tags are indexed into high-speed posting list sets.</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521208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846320" cy="548640"/>
          </a:xfrm>
          <a:prstGeom prst="rect">
            <a:avLst/>
          </a:prstGeom>
          <a:noFill/>
        </p:spPr>
        <p:txBody>
          <a:bodyPr wrap="square">
            <a:spAutoFit/>
          </a:bodyPr>
          <a:lstStyle/>
          <a:p>
            <a:pPr>
              <a:defRPr sz="1500" b="1">
                <a:solidFill>
                  <a:srgbClr val="D5E0FF"/>
                </a:solidFill>
                <a:latin typeface="Trebuchet MS"/>
              </a:defRPr>
            </a:pPr>
            <a:r>
              <a:t>Posting List Dictionary Representation</a:t>
            </a:r>
          </a:p>
          <a:p>
            <a:pPr>
              <a:spcBef>
                <a:spcPts val="200"/>
              </a:spcBef>
              <a:defRPr sz="1000">
                <a:solidFill>
                  <a:srgbClr val="94A3B8"/>
                </a:solidFill>
                <a:latin typeface="Consolas"/>
              </a:defRPr>
            </a:pPr>
            <a:r>
              <a:t>Term-to-Document Associative Inverted Mapping</a:t>
            </a:r>
          </a:p>
        </p:txBody>
      </p:sp>
      <p:sp>
        <p:nvSpPr>
          <p:cNvPr id="8" name="TextBox 7"/>
          <p:cNvSpPr txBox="1"/>
          <p:nvPr/>
        </p:nvSpPr>
        <p:spPr>
          <a:xfrm>
            <a:off x="914400" y="2606040"/>
            <a:ext cx="4846320" cy="3474720"/>
          </a:xfrm>
          <a:prstGeom prst="rect">
            <a:avLst/>
          </a:prstGeom>
          <a:noFill/>
        </p:spPr>
        <p:txBody>
          <a:bodyPr wrap="square">
            <a:spAutoFit/>
          </a:bodyPr>
          <a:lstStyle/>
          <a:p>
            <a:pPr>
              <a:defRPr sz="1000" b="1">
                <a:solidFill>
                  <a:srgbClr val="60A5FA"/>
                </a:solidFill>
                <a:latin typeface="Consolas"/>
              </a:defRPr>
            </a:pPr>
            <a:r>
              <a:t>INVERTED INDEX MEMORY MAP:</a:t>
            </a:r>
          </a:p>
          <a:p>
            <a:pPr>
              <a:defRPr sz="1000">
                <a:solidFill>
                  <a:srgbClr val="94A3B8"/>
                </a:solidFill>
                <a:latin typeface="Consolas"/>
              </a:defRPr>
            </a:pPr>
            <a:r>
              <a:t>---------------------------------------------</a:t>
            </a:r>
          </a:p>
          <a:p>
            <a:pPr>
              <a:defRPr sz="1000">
                <a:solidFill>
                  <a:srgbClr val="D5E0FF"/>
                </a:solidFill>
                <a:latin typeface="Consolas"/>
              </a:defRPr>
            </a:pPr>
            <a:r>
              <a:t>"game"        ──► Set { dev-01, dev-02, repo-101, post-01 }</a:t>
            </a:r>
          </a:p>
          <a:p>
            <a:pPr>
              <a:defRPr sz="1000">
                <a:solidFill>
                  <a:srgbClr val="D5E0FF"/>
                </a:solidFill>
                <a:latin typeface="Consolas"/>
              </a:defRPr>
            </a:pPr>
            <a:r>
              <a:t>"physics"     ──► Set { dev-02, repo-104, repo-106 }</a:t>
            </a:r>
          </a:p>
          <a:p>
            <a:pPr>
              <a:defRPr sz="1000">
                <a:solidFill>
                  <a:srgbClr val="D5E0FF"/>
                </a:solidFill>
                <a:latin typeface="Consolas"/>
              </a:defRPr>
            </a:pPr>
            <a:r>
              <a:t>"ai"          ──► Set { dev-01, repo-102, sys-04 }</a:t>
            </a:r>
          </a:p>
          <a:p>
            <a:pPr>
              <a:defRPr sz="1000">
                <a:solidFill>
                  <a:srgbClr val="D5E0FF"/>
                </a:solidFill>
                <a:latin typeface="Consolas"/>
              </a:defRPr>
            </a:pPr>
            <a:r>
              <a:t>"unity"       ──► Set { dev-01, dev-02, repo-103 }</a:t>
            </a:r>
          </a:p>
          <a:p>
            <a:pPr>
              <a:defRPr sz="1000">
                <a:solidFill>
                  <a:srgbClr val="D5E0FF"/>
                </a:solidFill>
                <a:latin typeface="Consolas"/>
              </a:defRPr>
            </a:pPr>
            <a:r>
              <a:t>"threejs"     ──► Set { dev-01, repo-105, sys-01 }</a:t>
            </a:r>
          </a:p>
          <a:p>
            <a:pPr>
              <a:defRPr sz="1000">
                <a:solidFill>
                  <a:srgbClr val="D5E0FF"/>
                </a:solidFill>
                <a:latin typeface="Consolas"/>
              </a:defRPr>
            </a:pPr>
            <a:r>
              <a:t>"multiplayer" ──► Set { dev-01, repo-101, post-02 }</a:t>
            </a:r>
          </a:p>
          <a:p>
            <a:pPr>
              <a:defRPr sz="1000">
                <a:solidFill>
                  <a:srgbClr val="94A3B8"/>
                </a:solidFill>
                <a:latin typeface="Consolas"/>
              </a:defRPr>
            </a:pPr>
            <a:r>
              <a:t>---------------------------------------------</a:t>
            </a:r>
          </a:p>
          <a:p>
            <a:pPr>
              <a:defRPr sz="1000" b="1">
                <a:solidFill>
                  <a:srgbClr val="60A5FA"/>
                </a:solidFill>
                <a:latin typeface="Consolas"/>
              </a:defRPr>
            </a:pPr>
            <a:r>
              <a:t>DOCUMENT REGISTRY (O(1) Direct Lookup):</a:t>
            </a:r>
          </a:p>
          <a:p>
            <a:pPr>
              <a:defRPr sz="1000">
                <a:solidFill>
                  <a:srgbClr val="94A3B8"/>
                </a:solidFill>
                <a:latin typeface="Consolas"/>
              </a:defRPr>
            </a:pPr>
            <a:r>
              <a:t>Map {</a:t>
            </a:r>
          </a:p>
          <a:p>
            <a:pPr>
              <a:defRPr sz="1000">
                <a:solidFill>
                  <a:srgbClr val="94A3B8"/>
                </a:solidFill>
                <a:latin typeface="Consolas"/>
              </a:defRPr>
            </a:pPr>
            <a:r>
              <a:t>  "dev-01"   =&gt; { name: 'Arbaz Arshad', sector: 'AI &amp; Games' },</a:t>
            </a:r>
          </a:p>
          <a:p>
            <a:pPr>
              <a:defRPr sz="1000">
                <a:solidFill>
                  <a:srgbClr val="94A3B8"/>
                </a:solidFill>
                <a:latin typeface="Consolas"/>
              </a:defRPr>
            </a:pPr>
            <a:r>
              <a:t>  "dev-02"   =&gt; { name: 'Devesh Das', sector: 'Physics &amp; Games' }</a:t>
            </a:r>
          </a:p>
          <a:p>
            <a:pPr>
              <a:defRPr sz="1000">
                <a:solidFill>
                  <a:srgbClr val="94A3B8"/>
                </a:solidFill>
                <a:latin typeface="Consolas"/>
              </a:defRPr>
            </a:pPr>
            <a:r>
              <a:t>}</a:t>
            </a:r>
          </a:p>
        </p:txBody>
      </p:sp>
      <p:sp>
        <p:nvSpPr>
          <p:cNvPr id="9" name="Rectangle 8"/>
          <p:cNvSpPr/>
          <p:nvPr/>
        </p:nvSpPr>
        <p:spPr>
          <a:xfrm>
            <a:off x="6217920" y="1828800"/>
            <a:ext cx="521208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846320" cy="548640"/>
          </a:xfrm>
          <a:prstGeom prst="rect">
            <a:avLst/>
          </a:prstGeom>
          <a:noFill/>
        </p:spPr>
        <p:txBody>
          <a:bodyPr wrap="square">
            <a:spAutoFit/>
          </a:bodyPr>
          <a:lstStyle/>
          <a:p>
            <a:pPr>
              <a:defRPr sz="1500" b="1">
                <a:solidFill>
                  <a:srgbClr val="D5E0FF"/>
                </a:solidFill>
                <a:latin typeface="Trebuchet MS"/>
              </a:defRPr>
            </a:pPr>
            <a:r>
              <a:t>Set Conjunction (AND) &amp; Disjunction (OR)</a:t>
            </a:r>
          </a:p>
          <a:p>
            <a:pPr>
              <a:spcBef>
                <a:spcPts val="200"/>
              </a:spcBef>
              <a:defRPr sz="1000">
                <a:solidFill>
                  <a:srgbClr val="94A3B8"/>
                </a:solidFill>
                <a:latin typeface="Consolas"/>
              </a:defRPr>
            </a:pPr>
            <a:r>
              <a:t>Fast set algebra for multi-tag filtering</a:t>
            </a:r>
          </a:p>
        </p:txBody>
      </p:sp>
      <p:sp>
        <p:nvSpPr>
          <p:cNvPr id="11" name="TextBox 10"/>
          <p:cNvSpPr txBox="1"/>
          <p:nvPr/>
        </p:nvSpPr>
        <p:spPr>
          <a:xfrm>
            <a:off x="6400800" y="2606040"/>
            <a:ext cx="4846320" cy="3474720"/>
          </a:xfrm>
          <a:prstGeom prst="rect">
            <a:avLst/>
          </a:prstGeom>
          <a:noFill/>
        </p:spPr>
        <p:txBody>
          <a:bodyPr wrap="square">
            <a:spAutoFit/>
          </a:bodyPr>
          <a:lstStyle/>
          <a:p>
            <a:pPr>
              <a:spcAft>
                <a:spcPts val="1000"/>
              </a:spcAft>
            </a:pPr>
            <a:r>
              <a:rPr b="1" sz="1150">
                <a:solidFill>
                  <a:srgbClr val="34D399"/>
                </a:solidFill>
              </a:rPr>
              <a:t>Conjunction (AND Set Intersection):
</a:t>
            </a:r>
            <a:r>
              <a:rPr sz="1100">
                <a:solidFill>
                  <a:srgbClr val="94A3B8"/>
                </a:solidFill>
              </a:rPr>
              <a:t>When user queries multiple terms (e.g., 'game' AND 'physics'):
R = P('game') ∩ P('physics')
Algorithm picks the smallest posting list |P_min| and verifies membership in the other set in O(|P_min|) time.
Result: Exactly { dev-02 } (Devesh Das).</a:t>
            </a:r>
          </a:p>
          <a:p>
            <a:pPr>
              <a:spcAft>
                <a:spcPts val="1000"/>
              </a:spcAft>
            </a:pPr>
            <a:r>
              <a:rPr b="1" sz="1150">
                <a:solidFill>
                  <a:srgbClr val="34D399"/>
                </a:solidFill>
              </a:rPr>
              <a:t>Disjunction (OR Set Union) Fallback:
</a:t>
            </a:r>
            <a:r>
              <a:rPr sz="1100">
                <a:solidFill>
                  <a:srgbClr val="94A3B8"/>
                </a:solidFill>
              </a:rPr>
              <a:t>If strict intersection yields empty results, engine automatically computes:
R = P('term1') ∪ P('term2')
Entity results are scored and sorted by total term matches.</a:t>
            </a:r>
          </a:p>
          <a:p>
            <a:pPr>
              <a:spcAft>
                <a:spcPts val="1000"/>
              </a:spcAft>
            </a:pPr>
            <a:r>
              <a:rPr b="1" sz="1150">
                <a:solidFill>
                  <a:srgbClr val="34D399"/>
                </a:solidFill>
              </a:rPr>
              <a:t>Multi-Tag Taxonomy Intersect:
</a:t>
            </a:r>
            <a:r>
              <a:rPr sz="1100">
                <a:solidFill>
                  <a:srgbClr val="94A3B8"/>
                </a:solidFill>
              </a:rPr>
              <a:t>Directly filters by platform categories: #unity, #csharp, #ai, #webgl. Each tag corresponds to a pre-computed Set in tagIndex Map, executing in sub-millisecond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ENGINE ORCHESTRATION</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SearchEngine Orchestrator &amp; Relevance Scoring</a:t>
            </a:r>
          </a:p>
          <a:p>
            <a:pPr>
              <a:spcBef>
                <a:spcPts val="300"/>
              </a:spcBef>
              <a:defRPr sz="1300">
                <a:solidFill>
                  <a:srgbClr val="94A3B8"/>
                </a:solidFill>
                <a:latin typeface="Calibri"/>
              </a:defRPr>
            </a:pPr>
            <a:r>
              <a:t>How queries are parsed, dispatched across both data structures, and ranked for display.</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33756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971800" cy="548640"/>
          </a:xfrm>
          <a:prstGeom prst="rect">
            <a:avLst/>
          </a:prstGeom>
          <a:noFill/>
        </p:spPr>
        <p:txBody>
          <a:bodyPr wrap="square">
            <a:spAutoFit/>
          </a:bodyPr>
          <a:lstStyle/>
          <a:p>
            <a:pPr>
              <a:defRPr sz="1500" b="1">
                <a:solidFill>
                  <a:srgbClr val="D5E0FF"/>
                </a:solidFill>
                <a:latin typeface="Trebuchet MS"/>
              </a:defRPr>
            </a:pPr>
            <a:r>
              <a:t>1. Universal Ingestion</a:t>
            </a:r>
          </a:p>
          <a:p>
            <a:pPr>
              <a:spcBef>
                <a:spcPts val="200"/>
              </a:spcBef>
              <a:defRPr sz="1000">
                <a:solidFill>
                  <a:srgbClr val="94A3B8"/>
                </a:solidFill>
                <a:latin typeface="Consolas"/>
              </a:defRPr>
            </a:pPr>
            <a:r>
              <a:t>searchEngine.init() Pipeline</a:t>
            </a:r>
          </a:p>
        </p:txBody>
      </p:sp>
      <p:sp>
        <p:nvSpPr>
          <p:cNvPr id="8" name="TextBox 7"/>
          <p:cNvSpPr txBox="1"/>
          <p:nvPr/>
        </p:nvSpPr>
        <p:spPr>
          <a:xfrm>
            <a:off x="914400" y="2651760"/>
            <a:ext cx="2971800" cy="3474720"/>
          </a:xfrm>
          <a:prstGeom prst="rect">
            <a:avLst/>
          </a:prstGeom>
          <a:noFill/>
        </p:spPr>
        <p:txBody>
          <a:bodyPr wrap="square">
            <a:spAutoFit/>
          </a:bodyPr>
          <a:lstStyle/>
          <a:p>
            <a:pPr>
              <a:spcAft>
                <a:spcPts val="800"/>
              </a:spcAft>
            </a:pPr>
            <a:r>
              <a:rPr b="1" sz="1150">
                <a:solidFill>
                  <a:srgbClr val="D5E0FF"/>
                </a:solidFill>
              </a:rPr>
              <a:t>• Developers: </a:t>
            </a:r>
            <a:r>
              <a:rPr sz="1100">
                <a:solidFill>
                  <a:srgbClr val="94A3B8"/>
                </a:solidFill>
              </a:rPr>
              <a:t>Profiles of Arbaz Arshad [DEV-01] and Devesh Das [DEV-02] indexed with bios, skills, and sectors.</a:t>
            </a:r>
          </a:p>
          <a:p>
            <a:pPr>
              <a:spcAft>
                <a:spcPts val="800"/>
              </a:spcAft>
            </a:pPr>
            <a:r>
              <a:rPr b="1" sz="1150">
                <a:solidFill>
                  <a:srgbClr val="D5E0FF"/>
                </a:solidFill>
              </a:rPr>
              <a:t>• Repositories: </a:t>
            </a:r>
            <a:r>
              <a:rPr sz="1100">
                <a:solidFill>
                  <a:srgbClr val="94A3B8"/>
                </a:solidFill>
              </a:rPr>
              <a:t>Aggregated projects (Blackjacker, White Ninja, Cobra Card Game, Pasha Palli) with stars and languages.</a:t>
            </a:r>
          </a:p>
          <a:p>
            <a:pPr>
              <a:spcAft>
                <a:spcPts val="800"/>
              </a:spcAft>
            </a:pPr>
            <a:r>
              <a:rPr b="1" sz="1150">
                <a:solidFill>
                  <a:srgbClr val="D5E0FF"/>
                </a:solidFill>
              </a:rPr>
              <a:t>• Technical Articles: </a:t>
            </a:r>
            <a:r>
              <a:rPr sz="1100">
                <a:solidFill>
                  <a:srgbClr val="94A3B8"/>
                </a:solidFill>
              </a:rPr>
              <a:t>Markdown engineering blogs on Finite State Machines, WebGL shaders, and game architecture.</a:t>
            </a:r>
          </a:p>
          <a:p>
            <a:pPr>
              <a:spcAft>
                <a:spcPts val="800"/>
              </a:spcAft>
            </a:pPr>
            <a:r>
              <a:rPr b="1" sz="1150">
                <a:solidFill>
                  <a:srgbClr val="D5E0FF"/>
                </a:solidFill>
              </a:rPr>
              <a:t>• HUD Architecture: </a:t>
            </a:r>
            <a:r>
              <a:rPr sz="1100">
                <a:solidFill>
                  <a:srgbClr val="94A3B8"/>
                </a:solidFill>
              </a:rPr>
              <a:t>Cockpit systems (3D WebGL Canvas, Compass Rosette, Supabase Auth).</a:t>
            </a:r>
          </a:p>
        </p:txBody>
      </p:sp>
      <p:sp>
        <p:nvSpPr>
          <p:cNvPr id="9" name="Rectangle 8"/>
          <p:cNvSpPr/>
          <p:nvPr/>
        </p:nvSpPr>
        <p:spPr>
          <a:xfrm>
            <a:off x="4416552" y="1828800"/>
            <a:ext cx="333756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965960"/>
            <a:ext cx="2971800" cy="548640"/>
          </a:xfrm>
          <a:prstGeom prst="rect">
            <a:avLst/>
          </a:prstGeom>
          <a:noFill/>
        </p:spPr>
        <p:txBody>
          <a:bodyPr wrap="square">
            <a:spAutoFit/>
          </a:bodyPr>
          <a:lstStyle/>
          <a:p>
            <a:pPr>
              <a:defRPr sz="1500" b="1">
                <a:solidFill>
                  <a:srgbClr val="D5E0FF"/>
                </a:solidFill>
                <a:latin typeface="Trebuchet MS"/>
              </a:defRPr>
            </a:pPr>
            <a:r>
              <a:t>2. Query Resolution</a:t>
            </a:r>
          </a:p>
          <a:p>
            <a:pPr>
              <a:spcBef>
                <a:spcPts val="200"/>
              </a:spcBef>
              <a:defRPr sz="1000">
                <a:solidFill>
                  <a:srgbClr val="94A3B8"/>
                </a:solidFill>
                <a:latin typeface="Consolas"/>
              </a:defRPr>
            </a:pPr>
            <a:r>
              <a:t>Dual Dispatch &amp; Autocomplete</a:t>
            </a:r>
          </a:p>
        </p:txBody>
      </p:sp>
      <p:sp>
        <p:nvSpPr>
          <p:cNvPr id="11" name="TextBox 10"/>
          <p:cNvSpPr txBox="1"/>
          <p:nvPr/>
        </p:nvSpPr>
        <p:spPr>
          <a:xfrm>
            <a:off x="4599432" y="2651760"/>
            <a:ext cx="2971800" cy="3474720"/>
          </a:xfrm>
          <a:prstGeom prst="rect">
            <a:avLst/>
          </a:prstGeom>
          <a:noFill/>
        </p:spPr>
        <p:txBody>
          <a:bodyPr wrap="square">
            <a:spAutoFit/>
          </a:bodyPr>
          <a:lstStyle/>
          <a:p>
            <a:pPr>
              <a:spcAft>
                <a:spcPts val="800"/>
              </a:spcAft>
            </a:pPr>
            <a:r>
              <a:rPr b="1" sz="1150">
                <a:solidFill>
                  <a:srgbClr val="60A5FA"/>
                </a:solidFill>
              </a:rPr>
              <a:t>• Input Normalization: </a:t>
            </a:r>
            <a:r>
              <a:rPr sz="1100">
                <a:solidFill>
                  <a:srgbClr val="94A3B8"/>
                </a:solidFill>
              </a:rPr>
              <a:t>Lowercases, trims, and cleans string: '  Unity Physics ' ➔ ['unity', 'physics'].</a:t>
            </a:r>
          </a:p>
          <a:p>
            <a:pPr>
              <a:spcAft>
                <a:spcPts val="800"/>
              </a:spcAft>
            </a:pPr>
            <a:r>
              <a:rPr b="1" sz="1150">
                <a:solidFill>
                  <a:srgbClr val="60A5FA"/>
                </a:solidFill>
              </a:rPr>
              <a:t>• Trie Prefix Lookup: </a:t>
            </a:r>
            <a:r>
              <a:rPr sz="1100">
                <a:solidFill>
                  <a:srgbClr val="94A3B8"/>
                </a:solidFill>
              </a:rPr>
              <a:t>PrefixTrie.startsWith('uni') yields suggestions ['unity', 'universal'] + linked IDs.</a:t>
            </a:r>
          </a:p>
          <a:p>
            <a:pPr>
              <a:spcAft>
                <a:spcPts val="800"/>
              </a:spcAft>
            </a:pPr>
            <a:r>
              <a:rPr b="1" sz="1150">
                <a:solidFill>
                  <a:srgbClr val="60A5FA"/>
                </a:solidFill>
              </a:rPr>
              <a:t>• Inverted Index Query: </a:t>
            </a:r>
            <a:r>
              <a:rPr sz="1100">
                <a:solidFill>
                  <a:srgbClr val="94A3B8"/>
                </a:solidFill>
              </a:rPr>
              <a:t>InvertedIndex.search('unity physics') resolves posting list intersection.</a:t>
            </a:r>
          </a:p>
          <a:p>
            <a:pPr>
              <a:spcAft>
                <a:spcPts val="800"/>
              </a:spcAft>
            </a:pPr>
            <a:r>
              <a:rPr b="1" sz="1150">
                <a:solidFill>
                  <a:srgbClr val="60A5FA"/>
                </a:solidFill>
              </a:rPr>
              <a:t>• Merged Deduplication: </a:t>
            </a:r>
            <a:r>
              <a:rPr sz="1100">
                <a:solidFill>
                  <a:srgbClr val="94A3B8"/>
                </a:solidFill>
              </a:rPr>
              <a:t>Results from both structures merged by Unique Entity ID to eliminate duplicate cards.</a:t>
            </a:r>
          </a:p>
        </p:txBody>
      </p:sp>
      <p:sp>
        <p:nvSpPr>
          <p:cNvPr id="12" name="Rectangle 11"/>
          <p:cNvSpPr/>
          <p:nvPr/>
        </p:nvSpPr>
        <p:spPr>
          <a:xfrm>
            <a:off x="8101584" y="1828800"/>
            <a:ext cx="333756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1965960"/>
            <a:ext cx="2971800" cy="548640"/>
          </a:xfrm>
          <a:prstGeom prst="rect">
            <a:avLst/>
          </a:prstGeom>
          <a:noFill/>
        </p:spPr>
        <p:txBody>
          <a:bodyPr wrap="square">
            <a:spAutoFit/>
          </a:bodyPr>
          <a:lstStyle/>
          <a:p>
            <a:pPr>
              <a:defRPr sz="1500" b="1">
                <a:solidFill>
                  <a:srgbClr val="D5E0FF"/>
                </a:solidFill>
                <a:latin typeface="Trebuchet MS"/>
              </a:defRPr>
            </a:pPr>
            <a:r>
              <a:t>3. Relevance Scoring</a:t>
            </a:r>
          </a:p>
          <a:p>
            <a:pPr>
              <a:spcBef>
                <a:spcPts val="200"/>
              </a:spcBef>
              <a:defRPr sz="1000">
                <a:solidFill>
                  <a:srgbClr val="94A3B8"/>
                </a:solidFill>
                <a:latin typeface="Consolas"/>
              </a:defRPr>
            </a:pPr>
            <a:r>
              <a:t>Weighted Multi-Factor Scoring Formula</a:t>
            </a:r>
          </a:p>
        </p:txBody>
      </p:sp>
      <p:sp>
        <p:nvSpPr>
          <p:cNvPr id="14" name="TextBox 13"/>
          <p:cNvSpPr txBox="1"/>
          <p:nvPr/>
        </p:nvSpPr>
        <p:spPr>
          <a:xfrm>
            <a:off x="8284464" y="2651760"/>
            <a:ext cx="2971800" cy="3474720"/>
          </a:xfrm>
          <a:prstGeom prst="rect">
            <a:avLst/>
          </a:prstGeom>
          <a:noFill/>
        </p:spPr>
        <p:txBody>
          <a:bodyPr wrap="square">
            <a:spAutoFit/>
          </a:bodyPr>
          <a:lstStyle/>
          <a:p>
            <a:pPr>
              <a:spcAft>
                <a:spcPts val="800"/>
              </a:spcAft>
            </a:pPr>
            <a:r>
              <a:rPr b="1" sz="1150">
                <a:solidFill>
                  <a:srgbClr val="34D399"/>
                </a:solidFill>
              </a:rPr>
              <a:t>★ Exact Title Match: </a:t>
            </a:r>
            <a:r>
              <a:rPr sz="1100">
                <a:solidFill>
                  <a:srgbClr val="94A3B8"/>
                </a:solidFill>
              </a:rPr>
              <a:t>+50 Points (Entity title equals query term).</a:t>
            </a:r>
          </a:p>
          <a:p>
            <a:pPr>
              <a:spcAft>
                <a:spcPts val="800"/>
              </a:spcAft>
            </a:pPr>
            <a:r>
              <a:rPr b="1" sz="1150">
                <a:solidFill>
                  <a:srgbClr val="34D399"/>
                </a:solidFill>
              </a:rPr>
              <a:t>★ Title Prefix Match: </a:t>
            </a:r>
            <a:r>
              <a:rPr sz="1100">
                <a:solidFill>
                  <a:srgbClr val="94A3B8"/>
                </a:solidFill>
              </a:rPr>
              <a:t>+30 Points (Entity title starts with query).</a:t>
            </a:r>
          </a:p>
          <a:p>
            <a:pPr>
              <a:spcAft>
                <a:spcPts val="800"/>
              </a:spcAft>
            </a:pPr>
            <a:r>
              <a:rPr b="1" sz="1150">
                <a:solidFill>
                  <a:srgbClr val="34D399"/>
                </a:solidFill>
              </a:rPr>
              <a:t>★ Taxonomy Tag Hit: </a:t>
            </a:r>
            <a:r>
              <a:rPr sz="1100">
                <a:solidFill>
                  <a:srgbClr val="94A3B8"/>
                </a:solidFill>
              </a:rPr>
              <a:t>+25 Points per exact matching topic/tag.</a:t>
            </a:r>
          </a:p>
          <a:p>
            <a:pPr>
              <a:spcAft>
                <a:spcPts val="800"/>
              </a:spcAft>
            </a:pPr>
            <a:r>
              <a:rPr b="1" sz="1150">
                <a:solidFill>
                  <a:srgbClr val="34D399"/>
                </a:solidFill>
              </a:rPr>
              <a:t>★ Description Token Hit: </a:t>
            </a:r>
            <a:r>
              <a:rPr sz="1100">
                <a:solidFill>
                  <a:srgbClr val="94A3B8"/>
                </a:solidFill>
              </a:rPr>
              <a:t>+10 Points per body match.</a:t>
            </a:r>
          </a:p>
          <a:p>
            <a:pPr>
              <a:spcAft>
                <a:spcPts val="800"/>
              </a:spcAft>
            </a:pPr>
            <a:r>
              <a:rPr b="1" sz="1150">
                <a:solidFill>
                  <a:srgbClr val="34D399"/>
                </a:solidFill>
              </a:rPr>
              <a:t>★ Trie Frequency Weight: </a:t>
            </a:r>
            <a:r>
              <a:rPr sz="1100">
                <a:solidFill>
                  <a:srgbClr val="94A3B8"/>
                </a:solidFill>
              </a:rPr>
              <a:t>+1 to +5 Points based on historic selection frequency.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ALGORITHMIC COMPARISON</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Theoretical Complexity vs Existing Paradigms</a:t>
            </a:r>
          </a:p>
          <a:p>
            <a:pPr>
              <a:spcBef>
                <a:spcPts val="300"/>
              </a:spcBef>
              <a:defRPr sz="1300">
                <a:solidFill>
                  <a:srgbClr val="94A3B8"/>
                </a:solidFill>
                <a:latin typeface="Calibri"/>
              </a:defRPr>
            </a:pPr>
            <a:r>
              <a:t>Benchmarking the custom dual engine against linear scans, hash maps, and external cloud solutions.</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828800"/>
          <a:ext cx="10728655" cy="4389120"/>
        </p:xfrm>
        <a:graphic>
          <a:graphicData uri="http://schemas.openxmlformats.org/drawingml/2006/table">
            <a:tbl>
              <a:tblPr firstRow="1" bandRow="1">
                <a:tableStyleId>{5C22544A-7EE6-4342-B048-85BDC9FD1C3A}</a:tableStyleId>
              </a:tblPr>
              <a:tblGrid>
                <a:gridCol w="2103120"/>
                <a:gridCol w="1645920"/>
                <a:gridCol w="1645920"/>
                <a:gridCol w="1828800"/>
                <a:gridCol w="1737360"/>
                <a:gridCol w="1767535"/>
              </a:tblGrid>
              <a:tr h="731520">
                <a:tc>
                  <a:txBody>
                    <a:bodyPr/>
                    <a:lstStyle/>
                    <a:p>
                      <a:pPr algn="ctr">
                        <a:defRPr sz="1100" b="1">
                          <a:solidFill>
                            <a:srgbClr val="D5E0FF"/>
                          </a:solidFill>
                          <a:latin typeface="Trebuchet MS"/>
                        </a:defRPr>
                      </a:pPr>
                      <a:r>
                        <a:t>Search Approach</a:t>
                      </a:r>
                    </a:p>
                  </a:txBody>
                  <a:tcPr>
                    <a:solidFill>
                      <a:srgbClr val="0B214D"/>
                    </a:solidFill>
                  </a:tcPr>
                </a:tc>
                <a:tc>
                  <a:txBody>
                    <a:bodyPr/>
                    <a:lstStyle/>
                    <a:p>
                      <a:pPr algn="ctr">
                        <a:defRPr sz="1100" b="1">
                          <a:solidFill>
                            <a:srgbClr val="D5E0FF"/>
                          </a:solidFill>
                          <a:latin typeface="Trebuchet MS"/>
                        </a:defRPr>
                      </a:pPr>
                      <a:r>
                        <a:t>Exact Query</a:t>
                      </a:r>
                    </a:p>
                  </a:txBody>
                  <a:tcPr>
                    <a:solidFill>
                      <a:srgbClr val="0B214D"/>
                    </a:solidFill>
                  </a:tcPr>
                </a:tc>
                <a:tc>
                  <a:txBody>
                    <a:bodyPr/>
                    <a:lstStyle/>
                    <a:p>
                      <a:pPr algn="ctr">
                        <a:defRPr sz="1100" b="1">
                          <a:solidFill>
                            <a:srgbClr val="D5E0FF"/>
                          </a:solidFill>
                          <a:latin typeface="Trebuchet MS"/>
                        </a:defRPr>
                      </a:pPr>
                      <a:r>
                        <a:t>Prefix Autocomplete</a:t>
                      </a:r>
                    </a:p>
                  </a:txBody>
                  <a:tcPr>
                    <a:solidFill>
                      <a:srgbClr val="0B214D"/>
                    </a:solidFill>
                  </a:tcPr>
                </a:tc>
                <a:tc>
                  <a:txBody>
                    <a:bodyPr/>
                    <a:lstStyle/>
                    <a:p>
                      <a:pPr algn="ctr">
                        <a:defRPr sz="1100" b="1">
                          <a:solidFill>
                            <a:srgbClr val="D5E0FF"/>
                          </a:solidFill>
                          <a:latin typeface="Trebuchet MS"/>
                        </a:defRPr>
                      </a:pPr>
                      <a:r>
                        <a:t>Multi-Tag (AND)</a:t>
                      </a:r>
                    </a:p>
                  </a:txBody>
                  <a:tcPr>
                    <a:solidFill>
                      <a:srgbClr val="0B214D"/>
                    </a:solidFill>
                  </a:tcPr>
                </a:tc>
                <a:tc>
                  <a:txBody>
                    <a:bodyPr/>
                    <a:lstStyle/>
                    <a:p>
                      <a:pPr algn="ctr">
                        <a:defRPr sz="1100" b="1">
                          <a:solidFill>
                            <a:srgbClr val="D5E0FF"/>
                          </a:solidFill>
                          <a:latin typeface="Trebuchet MS"/>
                        </a:defRPr>
                      </a:pPr>
                      <a:r>
                        <a:t>Network Latency</a:t>
                      </a:r>
                    </a:p>
                  </a:txBody>
                  <a:tcPr>
                    <a:solidFill>
                      <a:srgbClr val="0B214D"/>
                    </a:solidFill>
                  </a:tcPr>
                </a:tc>
                <a:tc>
                  <a:txBody>
                    <a:bodyPr/>
                    <a:lstStyle/>
                    <a:p>
                      <a:pPr algn="ctr">
                        <a:defRPr sz="1100" b="1">
                          <a:solidFill>
                            <a:srgbClr val="D5E0FF"/>
                          </a:solidFill>
                          <a:latin typeface="Trebuchet MS"/>
                        </a:defRPr>
                      </a:pPr>
                      <a:r>
                        <a:t>Offline Resiliency</a:t>
                      </a:r>
                    </a:p>
                  </a:txBody>
                  <a:tcPr>
                    <a:solidFill>
                      <a:srgbClr val="0B214D"/>
                    </a:solidFill>
                  </a:tcPr>
                </a:tc>
              </a:tr>
              <a:tr h="731520">
                <a:tc>
                  <a:txBody>
                    <a:bodyPr/>
                    <a:lstStyle/>
                    <a:p>
                      <a:pPr algn="l">
                        <a:defRPr sz="1000" b="1">
                          <a:solidFill>
                            <a:srgbClr val="94A3B8"/>
                          </a:solidFill>
                          <a:latin typeface="Trebuchet MS"/>
                        </a:defRPr>
                      </a:pPr>
                      <a:r>
                        <a:t>Naive Array Scan (filter)</a:t>
                      </a:r>
                    </a:p>
                  </a:txBody>
                  <a:tcPr>
                    <a:solidFill>
                      <a:srgbClr val="07183A"/>
                    </a:solidFill>
                  </a:tcPr>
                </a:tc>
                <a:tc>
                  <a:txBody>
                    <a:bodyPr/>
                    <a:lstStyle/>
                    <a:p>
                      <a:pPr algn="ctr">
                        <a:defRPr sz="1000" b="0">
                          <a:solidFill>
                            <a:srgbClr val="94A3B8"/>
                          </a:solidFill>
                          <a:latin typeface="Consolas"/>
                        </a:defRPr>
                      </a:pPr>
                      <a:r>
                        <a:t>O(N · L)</a:t>
                      </a:r>
                    </a:p>
                  </a:txBody>
                  <a:tcPr>
                    <a:solidFill>
                      <a:srgbClr val="07183A"/>
                    </a:solidFill>
                  </a:tcPr>
                </a:tc>
                <a:tc>
                  <a:txBody>
                    <a:bodyPr/>
                    <a:lstStyle/>
                    <a:p>
                      <a:pPr algn="ctr">
                        <a:defRPr sz="1000" b="0">
                          <a:solidFill>
                            <a:srgbClr val="94A3B8"/>
                          </a:solidFill>
                          <a:latin typeface="Consolas"/>
                        </a:defRPr>
                      </a:pPr>
                      <a:r>
                        <a:t>O(N · L) [Brute substring]</a:t>
                      </a:r>
                    </a:p>
                  </a:txBody>
                  <a:tcPr>
                    <a:solidFill>
                      <a:srgbClr val="07183A"/>
                    </a:solidFill>
                  </a:tcPr>
                </a:tc>
                <a:tc>
                  <a:txBody>
                    <a:bodyPr/>
                    <a:lstStyle/>
                    <a:p>
                      <a:pPr algn="ctr">
                        <a:defRPr sz="1000" b="0">
                          <a:solidFill>
                            <a:srgbClr val="94A3B8"/>
                          </a:solidFill>
                          <a:latin typeface="Consolas"/>
                        </a:defRPr>
                      </a:pPr>
                      <a:r>
                        <a:t>O(N · T) [Nested loop]</a:t>
                      </a:r>
                    </a:p>
                  </a:txBody>
                  <a:tcPr>
                    <a:solidFill>
                      <a:srgbClr val="07183A"/>
                    </a:solidFill>
                  </a:tcPr>
                </a:tc>
                <a:tc>
                  <a:txBody>
                    <a:bodyPr/>
                    <a:lstStyle/>
                    <a:p>
                      <a:pPr algn="ctr">
                        <a:defRPr sz="1000" b="0">
                          <a:solidFill>
                            <a:srgbClr val="94A3B8"/>
                          </a:solidFill>
                          <a:latin typeface="Consolas"/>
                        </a:defRPr>
                      </a:pPr>
                      <a:r>
                        <a:t>0 ms (Local)</a:t>
                      </a:r>
                    </a:p>
                  </a:txBody>
                  <a:tcPr>
                    <a:solidFill>
                      <a:srgbClr val="07183A"/>
                    </a:solidFill>
                  </a:tcPr>
                </a:tc>
                <a:tc>
                  <a:txBody>
                    <a:bodyPr/>
                    <a:lstStyle/>
                    <a:p>
                      <a:pPr algn="ctr">
                        <a:defRPr sz="1000" b="0">
                          <a:solidFill>
                            <a:srgbClr val="94A3B8"/>
                          </a:solidFill>
                          <a:latin typeface="Consolas"/>
                        </a:defRPr>
                      </a:pPr>
                      <a:r>
                        <a:t>High (Local)</a:t>
                      </a:r>
                    </a:p>
                  </a:txBody>
                  <a:tcPr>
                    <a:solidFill>
                      <a:srgbClr val="07183A"/>
                    </a:solidFill>
                  </a:tcPr>
                </a:tc>
              </a:tr>
              <a:tr h="731520">
                <a:tc>
                  <a:txBody>
                    <a:bodyPr/>
                    <a:lstStyle/>
                    <a:p>
                      <a:pPr algn="l">
                        <a:defRPr sz="1000" b="1">
                          <a:solidFill>
                            <a:srgbClr val="94A3B8"/>
                          </a:solidFill>
                          <a:latin typeface="Trebuchet MS"/>
                        </a:defRPr>
                      </a:pPr>
                      <a:r>
                        <a:t>Binary Search (Sorted Array)</a:t>
                      </a:r>
                    </a:p>
                  </a:txBody>
                  <a:tcPr>
                    <a:solidFill>
                      <a:srgbClr val="04102A"/>
                    </a:solidFill>
                  </a:tcPr>
                </a:tc>
                <a:tc>
                  <a:txBody>
                    <a:bodyPr/>
                    <a:lstStyle/>
                    <a:p>
                      <a:pPr algn="ctr">
                        <a:defRPr sz="1000" b="0">
                          <a:solidFill>
                            <a:srgbClr val="94A3B8"/>
                          </a:solidFill>
                          <a:latin typeface="Consolas"/>
                        </a:defRPr>
                      </a:pPr>
                      <a:r>
                        <a:t>O(log N)</a:t>
                      </a:r>
                    </a:p>
                  </a:txBody>
                  <a:tcPr>
                    <a:solidFill>
                      <a:srgbClr val="04102A"/>
                    </a:solidFill>
                  </a:tcPr>
                </a:tc>
                <a:tc>
                  <a:txBody>
                    <a:bodyPr/>
                    <a:lstStyle/>
                    <a:p>
                      <a:pPr algn="ctr">
                        <a:defRPr sz="1000" b="0">
                          <a:solidFill>
                            <a:srgbClr val="94A3B8"/>
                          </a:solidFill>
                          <a:latin typeface="Consolas"/>
                        </a:defRPr>
                      </a:pPr>
                      <a:r>
                        <a:t>O(log N + m)</a:t>
                      </a:r>
                    </a:p>
                  </a:txBody>
                  <a:tcPr>
                    <a:solidFill>
                      <a:srgbClr val="04102A"/>
                    </a:solidFill>
                  </a:tcPr>
                </a:tc>
                <a:tc>
                  <a:txBody>
                    <a:bodyPr/>
                    <a:lstStyle/>
                    <a:p>
                      <a:pPr algn="ctr">
                        <a:defRPr sz="1000" b="0">
                          <a:solidFill>
                            <a:srgbClr val="94A3B8"/>
                          </a:solidFill>
                          <a:latin typeface="Consolas"/>
                        </a:defRPr>
                      </a:pPr>
                      <a:r>
                        <a:t>O(N · log N)</a:t>
                      </a:r>
                    </a:p>
                  </a:txBody>
                  <a:tcPr>
                    <a:solidFill>
                      <a:srgbClr val="04102A"/>
                    </a:solidFill>
                  </a:tcPr>
                </a:tc>
                <a:tc>
                  <a:txBody>
                    <a:bodyPr/>
                    <a:lstStyle/>
                    <a:p>
                      <a:pPr algn="ctr">
                        <a:defRPr sz="1000" b="0">
                          <a:solidFill>
                            <a:srgbClr val="94A3B8"/>
                          </a:solidFill>
                          <a:latin typeface="Consolas"/>
                        </a:defRPr>
                      </a:pPr>
                      <a:r>
                        <a:t>0 ms (Local)</a:t>
                      </a:r>
                    </a:p>
                  </a:txBody>
                  <a:tcPr>
                    <a:solidFill>
                      <a:srgbClr val="04102A"/>
                    </a:solidFill>
                  </a:tcPr>
                </a:tc>
                <a:tc>
                  <a:txBody>
                    <a:bodyPr/>
                    <a:lstStyle/>
                    <a:p>
                      <a:pPr algn="ctr">
                        <a:defRPr sz="1000" b="0">
                          <a:solidFill>
                            <a:srgbClr val="94A3B8"/>
                          </a:solidFill>
                          <a:latin typeface="Consolas"/>
                        </a:defRPr>
                      </a:pPr>
                      <a:r>
                        <a:t>High (Local)</a:t>
                      </a:r>
                    </a:p>
                  </a:txBody>
                  <a:tcPr>
                    <a:solidFill>
                      <a:srgbClr val="04102A"/>
                    </a:solidFill>
                  </a:tcPr>
                </a:tc>
              </a:tr>
              <a:tr h="731520">
                <a:tc>
                  <a:txBody>
                    <a:bodyPr/>
                    <a:lstStyle/>
                    <a:p>
                      <a:pPr algn="l">
                        <a:defRPr sz="1000" b="1">
                          <a:solidFill>
                            <a:srgbClr val="94A3B8"/>
                          </a:solidFill>
                          <a:latin typeface="Trebuchet MS"/>
                        </a:defRPr>
                      </a:pPr>
                      <a:r>
                        <a:t>Hash Map Dictionary</a:t>
                      </a:r>
                    </a:p>
                  </a:txBody>
                  <a:tcPr>
                    <a:solidFill>
                      <a:srgbClr val="07183A"/>
                    </a:solidFill>
                  </a:tcPr>
                </a:tc>
                <a:tc>
                  <a:txBody>
                    <a:bodyPr/>
                    <a:lstStyle/>
                    <a:p>
                      <a:pPr algn="ctr">
                        <a:defRPr sz="1000" b="0">
                          <a:solidFill>
                            <a:srgbClr val="94A3B8"/>
                          </a:solidFill>
                          <a:latin typeface="Consolas"/>
                        </a:defRPr>
                      </a:pPr>
                      <a:r>
                        <a:t>O(1)</a:t>
                      </a:r>
                    </a:p>
                  </a:txBody>
                  <a:tcPr>
                    <a:solidFill>
                      <a:srgbClr val="07183A"/>
                    </a:solidFill>
                  </a:tcPr>
                </a:tc>
                <a:tc>
                  <a:txBody>
                    <a:bodyPr/>
                    <a:lstStyle/>
                    <a:p>
                      <a:pPr algn="ctr">
                        <a:defRPr sz="1000" b="0">
                          <a:solidFill>
                            <a:srgbClr val="94A3B8"/>
                          </a:solidFill>
                          <a:latin typeface="Consolas"/>
                        </a:defRPr>
                      </a:pPr>
                      <a:r>
                        <a:t>Impossible without full scan</a:t>
                      </a:r>
                    </a:p>
                  </a:txBody>
                  <a:tcPr>
                    <a:solidFill>
                      <a:srgbClr val="07183A"/>
                    </a:solidFill>
                  </a:tcPr>
                </a:tc>
                <a:tc>
                  <a:txBody>
                    <a:bodyPr/>
                    <a:lstStyle/>
                    <a:p>
                      <a:pPr algn="ctr">
                        <a:defRPr sz="1000" b="0">
                          <a:solidFill>
                            <a:srgbClr val="94A3B8"/>
                          </a:solidFill>
                          <a:latin typeface="Consolas"/>
                        </a:defRPr>
                      </a:pPr>
                      <a:r>
                        <a:t>O(N) iteration</a:t>
                      </a:r>
                    </a:p>
                  </a:txBody>
                  <a:tcPr>
                    <a:solidFill>
                      <a:srgbClr val="07183A"/>
                    </a:solidFill>
                  </a:tcPr>
                </a:tc>
                <a:tc>
                  <a:txBody>
                    <a:bodyPr/>
                    <a:lstStyle/>
                    <a:p>
                      <a:pPr algn="ctr">
                        <a:defRPr sz="1000" b="0">
                          <a:solidFill>
                            <a:srgbClr val="94A3B8"/>
                          </a:solidFill>
                          <a:latin typeface="Consolas"/>
                        </a:defRPr>
                      </a:pPr>
                      <a:r>
                        <a:t>0 ms (Local)</a:t>
                      </a:r>
                    </a:p>
                  </a:txBody>
                  <a:tcPr>
                    <a:solidFill>
                      <a:srgbClr val="07183A"/>
                    </a:solidFill>
                  </a:tcPr>
                </a:tc>
                <a:tc>
                  <a:txBody>
                    <a:bodyPr/>
                    <a:lstStyle/>
                    <a:p>
                      <a:pPr algn="ctr">
                        <a:defRPr sz="1000" b="0">
                          <a:solidFill>
                            <a:srgbClr val="94A3B8"/>
                          </a:solidFill>
                          <a:latin typeface="Consolas"/>
                        </a:defRPr>
                      </a:pPr>
                      <a:r>
                        <a:t>High (Local)</a:t>
                      </a:r>
                    </a:p>
                  </a:txBody>
                  <a:tcPr>
                    <a:solidFill>
                      <a:srgbClr val="07183A"/>
                    </a:solidFill>
                  </a:tcPr>
                </a:tc>
              </a:tr>
              <a:tr h="731520">
                <a:tc>
                  <a:txBody>
                    <a:bodyPr/>
                    <a:lstStyle/>
                    <a:p>
                      <a:pPr algn="l">
                        <a:defRPr sz="1000" b="1">
                          <a:solidFill>
                            <a:srgbClr val="94A3B8"/>
                          </a:solidFill>
                          <a:latin typeface="Trebuchet MS"/>
                        </a:defRPr>
                      </a:pPr>
                      <a:r>
                        <a:t>Cloud Search (Algolia / Elastic)</a:t>
                      </a:r>
                    </a:p>
                  </a:txBody>
                  <a:tcPr>
                    <a:solidFill>
                      <a:srgbClr val="04102A"/>
                    </a:solidFill>
                  </a:tcPr>
                </a:tc>
                <a:tc>
                  <a:txBody>
                    <a:bodyPr/>
                    <a:lstStyle/>
                    <a:p>
                      <a:pPr algn="ctr">
                        <a:defRPr sz="1000" b="0">
                          <a:solidFill>
                            <a:srgbClr val="94A3B8"/>
                          </a:solidFill>
                          <a:latin typeface="Consolas"/>
                        </a:defRPr>
                      </a:pPr>
                      <a:r>
                        <a:t>O(1) [Server-side]</a:t>
                      </a:r>
                    </a:p>
                  </a:txBody>
                  <a:tcPr>
                    <a:solidFill>
                      <a:srgbClr val="04102A"/>
                    </a:solidFill>
                  </a:tcPr>
                </a:tc>
                <a:tc>
                  <a:txBody>
                    <a:bodyPr/>
                    <a:lstStyle/>
                    <a:p>
                      <a:pPr algn="ctr">
                        <a:defRPr sz="1000" b="0">
                          <a:solidFill>
                            <a:srgbClr val="94A3B8"/>
                          </a:solidFill>
                          <a:latin typeface="Consolas"/>
                        </a:defRPr>
                      </a:pPr>
                      <a:r>
                        <a:t>O(1) [Server-side]</a:t>
                      </a:r>
                    </a:p>
                  </a:txBody>
                  <a:tcPr>
                    <a:solidFill>
                      <a:srgbClr val="04102A"/>
                    </a:solidFill>
                  </a:tcPr>
                </a:tc>
                <a:tc>
                  <a:txBody>
                    <a:bodyPr/>
                    <a:lstStyle/>
                    <a:p>
                      <a:pPr algn="ctr">
                        <a:defRPr sz="1000" b="0">
                          <a:solidFill>
                            <a:srgbClr val="94A3B8"/>
                          </a:solidFill>
                          <a:latin typeface="Consolas"/>
                        </a:defRPr>
                      </a:pPr>
                      <a:r>
                        <a:t>O(1) [Server-side]</a:t>
                      </a:r>
                    </a:p>
                  </a:txBody>
                  <a:tcPr>
                    <a:solidFill>
                      <a:srgbClr val="04102A"/>
                    </a:solidFill>
                  </a:tcPr>
                </a:tc>
                <a:tc>
                  <a:txBody>
                    <a:bodyPr/>
                    <a:lstStyle/>
                    <a:p>
                      <a:pPr algn="ctr">
                        <a:defRPr sz="1000" b="0">
                          <a:solidFill>
                            <a:srgbClr val="94A3B8"/>
                          </a:solidFill>
                          <a:latin typeface="Consolas"/>
                        </a:defRPr>
                      </a:pPr>
                      <a:r>
                        <a:t>150ms - 400ms</a:t>
                      </a:r>
                    </a:p>
                  </a:txBody>
                  <a:tcPr>
                    <a:solidFill>
                      <a:srgbClr val="04102A"/>
                    </a:solidFill>
                  </a:tcPr>
                </a:tc>
                <a:tc>
                  <a:txBody>
                    <a:bodyPr/>
                    <a:lstStyle/>
                    <a:p>
                      <a:pPr algn="ctr">
                        <a:defRPr sz="1000" b="0">
                          <a:solidFill>
                            <a:srgbClr val="94A3B8"/>
                          </a:solidFill>
                          <a:latin typeface="Consolas"/>
                        </a:defRPr>
                      </a:pPr>
                      <a:r>
                        <a:t>Zero (Fails Offline)</a:t>
                      </a:r>
                    </a:p>
                  </a:txBody>
                  <a:tcPr>
                    <a:solidFill>
                      <a:srgbClr val="04102A"/>
                    </a:solidFill>
                  </a:tcPr>
                </a:tc>
              </a:tr>
              <a:tr h="731520">
                <a:tc>
                  <a:txBody>
                    <a:bodyPr/>
                    <a:lstStyle/>
                    <a:p>
                      <a:pPr algn="l">
                        <a:defRPr sz="1050" b="1">
                          <a:solidFill>
                            <a:srgbClr val="D5E0FF"/>
                          </a:solidFill>
                          <a:latin typeface="Trebuchet MS"/>
                        </a:defRPr>
                      </a:pPr>
                      <a:r>
                        <a:t>PROPOSED DUAL ENGINE</a:t>
                      </a:r>
                      <a:br/>
                      <a:r>
                        <a:t>(Trie + Inverted Index)</a:t>
                      </a:r>
                    </a:p>
                  </a:txBody>
                  <a:tcPr>
                    <a:solidFill>
                      <a:srgbClr val="0E2D5F"/>
                    </a:solidFill>
                  </a:tcPr>
                </a:tc>
                <a:tc>
                  <a:txBody>
                    <a:bodyPr/>
                    <a:lstStyle/>
                    <a:p>
                      <a:pPr algn="ctr">
                        <a:defRPr sz="1050" b="1">
                          <a:solidFill>
                            <a:srgbClr val="34D399"/>
                          </a:solidFill>
                          <a:latin typeface="Consolas"/>
                        </a:defRPr>
                      </a:pPr>
                      <a:r>
                        <a:t>O(k)</a:t>
                      </a:r>
                      <a:br/>
                      <a:r>
                        <a:t>[&lt; 0.5 ms]</a:t>
                      </a:r>
                    </a:p>
                  </a:txBody>
                  <a:tcPr>
                    <a:solidFill>
                      <a:srgbClr val="0E2D5F"/>
                    </a:solidFill>
                  </a:tcPr>
                </a:tc>
                <a:tc>
                  <a:txBody>
                    <a:bodyPr/>
                    <a:lstStyle/>
                    <a:p>
                      <a:pPr algn="ctr">
                        <a:defRPr sz="1050" b="1">
                          <a:solidFill>
                            <a:srgbClr val="34D399"/>
                          </a:solidFill>
                          <a:latin typeface="Consolas"/>
                        </a:defRPr>
                      </a:pPr>
                      <a:r>
                        <a:t>O(k + m)</a:t>
                      </a:r>
                      <a:br/>
                      <a:r>
                        <a:t>[&lt; 1.0 ms]</a:t>
                      </a:r>
                    </a:p>
                  </a:txBody>
                  <a:tcPr>
                    <a:solidFill>
                      <a:srgbClr val="0E2D5F"/>
                    </a:solidFill>
                  </a:tcPr>
                </a:tc>
                <a:tc>
                  <a:txBody>
                    <a:bodyPr/>
                    <a:lstStyle/>
                    <a:p>
                      <a:pPr algn="ctr">
                        <a:defRPr sz="1050" b="1">
                          <a:solidFill>
                            <a:srgbClr val="34D399"/>
                          </a:solidFill>
                          <a:latin typeface="Consolas"/>
                        </a:defRPr>
                      </a:pPr>
                      <a:r>
                        <a:t>O(min |Pi|)</a:t>
                      </a:r>
                      <a:br/>
                      <a:r>
                        <a:t>[&lt; 1.5 ms]</a:t>
                      </a:r>
                    </a:p>
                  </a:txBody>
                  <a:tcPr>
                    <a:solidFill>
                      <a:srgbClr val="0E2D5F"/>
                    </a:solidFill>
                  </a:tcPr>
                </a:tc>
                <a:tc>
                  <a:txBody>
                    <a:bodyPr/>
                    <a:lstStyle/>
                    <a:p>
                      <a:pPr algn="ctr">
                        <a:defRPr sz="1050" b="1">
                          <a:solidFill>
                            <a:srgbClr val="34D399"/>
                          </a:solidFill>
                          <a:latin typeface="Consolas"/>
                        </a:defRPr>
                      </a:pPr>
                      <a:r>
                        <a:t>0 ms</a:t>
                      </a:r>
                      <a:br/>
                      <a:r>
                        <a:t>(In-Memory)</a:t>
                      </a:r>
                    </a:p>
                  </a:txBody>
                  <a:tcPr>
                    <a:solidFill>
                      <a:srgbClr val="0E2D5F"/>
                    </a:solidFill>
                  </a:tcPr>
                </a:tc>
                <a:tc>
                  <a:txBody>
                    <a:bodyPr/>
                    <a:lstStyle/>
                    <a:p>
                      <a:pPr algn="ctr">
                        <a:defRPr sz="1050" b="1">
                          <a:solidFill>
                            <a:srgbClr val="34D399"/>
                          </a:solidFill>
                          <a:latin typeface="Consolas"/>
                        </a:defRPr>
                      </a:pPr>
                      <a:r>
                        <a:t>Maximum</a:t>
                      </a:r>
                      <a:br/>
                      <a:r>
                        <a:t>(100% Offline)</a:t>
                      </a:r>
                    </a:p>
                  </a:txBody>
                  <a:tcPr>
                    <a:solidFill>
                      <a:srgbClr val="0E2D5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PRODUCTION IMPLEMENTATION</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Live Deployment in the AceDevs Tactical Cockpit</a:t>
            </a:r>
          </a:p>
          <a:p>
            <a:pPr>
              <a:spcBef>
                <a:spcPts val="300"/>
              </a:spcBef>
              <a:defRPr sz="1300">
                <a:solidFill>
                  <a:srgbClr val="94A3B8"/>
                </a:solidFill>
                <a:latin typeface="Calibri"/>
              </a:defRPr>
            </a:pPr>
            <a:r>
              <a:t>Seamless integration into React 18, Three.js 3D canvas, and Web Audio feedback loops.</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521208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846320" cy="548640"/>
          </a:xfrm>
          <a:prstGeom prst="rect">
            <a:avLst/>
          </a:prstGeom>
          <a:noFill/>
        </p:spPr>
        <p:txBody>
          <a:bodyPr wrap="square">
            <a:spAutoFit/>
          </a:bodyPr>
          <a:lstStyle/>
          <a:p>
            <a:pPr>
              <a:defRPr sz="1500" b="1">
                <a:solidFill>
                  <a:srgbClr val="D5E0FF"/>
                </a:solidFill>
                <a:latin typeface="Trebuchet MS"/>
              </a:defRPr>
            </a:pPr>
            <a:r>
              <a:t>User Experience &amp; Command Palette</a:t>
            </a:r>
          </a:p>
          <a:p>
            <a:pPr>
              <a:spcBef>
                <a:spcPts val="200"/>
              </a:spcBef>
              <a:defRPr sz="1000">
                <a:solidFill>
                  <a:srgbClr val="94A3B8"/>
                </a:solidFill>
                <a:latin typeface="Consolas"/>
              </a:defRPr>
            </a:pPr>
            <a:r>
              <a:t>Global Cmd+K / Ctrl+K HUD Search Modal</a:t>
            </a:r>
          </a:p>
        </p:txBody>
      </p:sp>
      <p:sp>
        <p:nvSpPr>
          <p:cNvPr id="8" name="TextBox 7"/>
          <p:cNvSpPr txBox="1"/>
          <p:nvPr/>
        </p:nvSpPr>
        <p:spPr>
          <a:xfrm>
            <a:off x="914400" y="2606040"/>
            <a:ext cx="4846320" cy="3474720"/>
          </a:xfrm>
          <a:prstGeom prst="rect">
            <a:avLst/>
          </a:prstGeom>
          <a:noFill/>
        </p:spPr>
        <p:txBody>
          <a:bodyPr wrap="square">
            <a:spAutoFit/>
          </a:bodyPr>
          <a:lstStyle/>
          <a:p>
            <a:pPr>
              <a:spcAft>
                <a:spcPts val="1000"/>
              </a:spcAft>
            </a:pPr>
            <a:r>
              <a:rPr b="1" sz="1200">
                <a:solidFill>
                  <a:srgbClr val="D5E0FF"/>
                </a:solidFill>
              </a:rPr>
              <a:t>► Tactile Command Palette: </a:t>
            </a:r>
            <a:r>
              <a:rPr sz="1150">
                <a:solidFill>
                  <a:srgbClr val="94A3B8"/>
                </a:solidFill>
              </a:rPr>
              <a:t>Invoked anywhere via Cmd+K or Ctrl+K shortcut, mounting a beveled 45° glass HUD modal.</a:t>
            </a:r>
          </a:p>
          <a:p>
            <a:pPr>
              <a:spcAft>
                <a:spcPts val="1000"/>
              </a:spcAft>
            </a:pPr>
            <a:r>
              <a:rPr b="1" sz="1200">
                <a:solidFill>
                  <a:srgbClr val="D5E0FF"/>
                </a:solidFill>
              </a:rPr>
              <a:t>► Real-Time Keystroke Querying: </a:t>
            </a:r>
            <a:r>
              <a:rPr sz="1150">
                <a:solidFill>
                  <a:srgbClr val="94A3B8"/>
                </a:solidFill>
              </a:rPr>
              <a:t>Every keystroke passes directly to PrefixTrie and InvertedIndex with zero debounce lag.</a:t>
            </a:r>
          </a:p>
          <a:p>
            <a:pPr>
              <a:spcAft>
                <a:spcPts val="1000"/>
              </a:spcAft>
            </a:pPr>
            <a:r>
              <a:rPr b="1" sz="1200">
                <a:solidFill>
                  <a:srgbClr val="D5E0FF"/>
                </a:solidFill>
              </a:rPr>
              <a:t>► Keyboard-Driven Arrow Traversal: </a:t>
            </a:r>
            <a:r>
              <a:rPr sz="1150">
                <a:solidFill>
                  <a:srgbClr val="94A3B8"/>
                </a:solidFill>
              </a:rPr>
              <a:t>Users navigate through autocomplete chips and result cards using ArrowUp, ArrowDown, and Enter.</a:t>
            </a:r>
          </a:p>
          <a:p>
            <a:pPr>
              <a:spcAft>
                <a:spcPts val="1000"/>
              </a:spcAft>
            </a:pPr>
            <a:r>
              <a:rPr b="1" sz="1200">
                <a:solidFill>
                  <a:srgbClr val="D5E0FF"/>
                </a:solidFill>
              </a:rPr>
              <a:t>► Direct Tactical Navigation: </a:t>
            </a:r>
            <a:r>
              <a:rPr sz="1150">
                <a:solidFill>
                  <a:srgbClr val="94A3B8"/>
                </a:solidFill>
              </a:rPr>
              <a:t>Selecting a developer card focuses the 3D node and pans the camera; selecting a repo or blog routes to detail view.</a:t>
            </a:r>
          </a:p>
        </p:txBody>
      </p:sp>
      <p:sp>
        <p:nvSpPr>
          <p:cNvPr id="9" name="Rectangle 8"/>
          <p:cNvSpPr/>
          <p:nvPr/>
        </p:nvSpPr>
        <p:spPr>
          <a:xfrm>
            <a:off x="6217920" y="1828800"/>
            <a:ext cx="521208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846320" cy="548640"/>
          </a:xfrm>
          <a:prstGeom prst="rect">
            <a:avLst/>
          </a:prstGeom>
          <a:noFill/>
        </p:spPr>
        <p:txBody>
          <a:bodyPr wrap="square">
            <a:spAutoFit/>
          </a:bodyPr>
          <a:lstStyle/>
          <a:p>
            <a:pPr>
              <a:defRPr sz="1500" b="1">
                <a:solidFill>
                  <a:srgbClr val="D5E0FF"/>
                </a:solidFill>
                <a:latin typeface="Trebuchet MS"/>
              </a:defRPr>
            </a:pPr>
            <a:r>
              <a:t>Micro-Interactions &amp; Incremental Sync</a:t>
            </a:r>
          </a:p>
          <a:p>
            <a:pPr>
              <a:spcBef>
                <a:spcPts val="200"/>
              </a:spcBef>
              <a:defRPr sz="1000">
                <a:solidFill>
                  <a:srgbClr val="94A3B8"/>
                </a:solidFill>
                <a:latin typeface="Consolas"/>
              </a:defRPr>
            </a:pPr>
            <a:r>
              <a:t>Web Audio integration &amp; live blog synchronization</a:t>
            </a:r>
          </a:p>
        </p:txBody>
      </p:sp>
      <p:sp>
        <p:nvSpPr>
          <p:cNvPr id="11" name="TextBox 10"/>
          <p:cNvSpPr txBox="1"/>
          <p:nvPr/>
        </p:nvSpPr>
        <p:spPr>
          <a:xfrm>
            <a:off x="6400800" y="2606040"/>
            <a:ext cx="4846320" cy="3474720"/>
          </a:xfrm>
          <a:prstGeom prst="rect">
            <a:avLst/>
          </a:prstGeom>
          <a:noFill/>
        </p:spPr>
        <p:txBody>
          <a:bodyPr wrap="square">
            <a:spAutoFit/>
          </a:bodyPr>
          <a:lstStyle/>
          <a:p>
            <a:pPr>
              <a:spcAft>
                <a:spcPts val="1000"/>
              </a:spcAft>
            </a:pPr>
            <a:r>
              <a:rPr b="1" sz="1200">
                <a:solidFill>
                  <a:srgbClr val="34D399"/>
                </a:solidFill>
              </a:rPr>
              <a:t>► Web Audio Micro-Sounds: </a:t>
            </a:r>
            <a:r>
              <a:rPr sz="1150">
                <a:solidFill>
                  <a:srgbClr val="94A3B8"/>
                </a:solidFill>
              </a:rPr>
              <a:t>Each keystroke triggers a procedurally generated 1200Hz chirping sound via HTML5 Web Audio API.</a:t>
            </a:r>
          </a:p>
          <a:p>
            <a:pPr>
              <a:spcAft>
                <a:spcPts val="1000"/>
              </a:spcAft>
            </a:pPr>
            <a:r>
              <a:rPr b="1" sz="1200">
                <a:solidFill>
                  <a:srgbClr val="34D399"/>
                </a:solidFill>
              </a:rPr>
              <a:t>► Dynamic Admin Re-Indexing: </a:t>
            </a:r>
            <a:r>
              <a:rPr sz="1150">
                <a:solidFill>
                  <a:srgbClr val="94A3B8"/>
                </a:solidFill>
              </a:rPr>
              <a:t>When Arbaz or Devesh publishes a new article via the Admin Cockpit, blogService automatically re-indexes.</a:t>
            </a:r>
          </a:p>
          <a:p>
            <a:pPr>
              <a:spcAft>
                <a:spcPts val="1000"/>
              </a:spcAft>
            </a:pPr>
            <a:r>
              <a:rPr b="1" sz="1200">
                <a:solidFill>
                  <a:srgbClr val="34D399"/>
                </a:solidFill>
              </a:rPr>
              <a:t>► Zero-Page Reload Sync: </a:t>
            </a:r>
            <a:r>
              <a:rPr sz="1150">
                <a:solidFill>
                  <a:srgbClr val="94A3B8"/>
                </a:solidFill>
              </a:rPr>
              <a:t>The Trie and Inverted Index are incrementally purged and re-populated in &lt; 3ms without reloading.</a:t>
            </a:r>
          </a:p>
          <a:p>
            <a:pPr>
              <a:spcAft>
                <a:spcPts val="1000"/>
              </a:spcAft>
            </a:pPr>
            <a:r>
              <a:rPr b="1" sz="1200">
                <a:solidFill>
                  <a:srgbClr val="34D399"/>
                </a:solidFill>
              </a:rPr>
              <a:t>► Graceful Local Caching: </a:t>
            </a:r>
            <a:r>
              <a:rPr sz="1150">
                <a:solidFill>
                  <a:srgbClr val="94A3B8"/>
                </a:solidFill>
              </a:rPr>
              <a:t>Combined with 30-minute GitHub REST caching and mock fallbacks, search operates with 100% uptime.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EMPIRICAL VALIDATION</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Performance Benchmarks &amp; Memory Profiling</a:t>
            </a:r>
          </a:p>
          <a:p>
            <a:pPr>
              <a:spcBef>
                <a:spcPts val="300"/>
              </a:spcBef>
              <a:defRPr sz="1300">
                <a:solidFill>
                  <a:srgbClr val="94A3B8"/>
                </a:solidFill>
                <a:latin typeface="Calibri"/>
              </a:defRPr>
            </a:pPr>
            <a:r>
              <a:t>Real-world execution timings gathered in Chrome V8 runtime across multiple document scales.</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2468880" cy="201168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2194560" cy="1737360"/>
          </a:xfrm>
          <a:prstGeom prst="rect">
            <a:avLst/>
          </a:prstGeom>
          <a:noFill/>
        </p:spPr>
        <p:txBody>
          <a:bodyPr wrap="square">
            <a:spAutoFit/>
          </a:bodyPr>
          <a:lstStyle/>
          <a:p>
            <a:pPr algn="ctr">
              <a:defRPr sz="2600" b="1">
                <a:solidFill>
                  <a:srgbClr val="34D399"/>
                </a:solidFill>
                <a:latin typeface="Trebuchet MS"/>
              </a:defRPr>
            </a:pPr>
            <a:r>
              <a:t>&lt; 0.8 ms</a:t>
            </a:r>
          </a:p>
          <a:p>
            <a:pPr algn="ctr">
              <a:spcBef>
                <a:spcPts val="400"/>
              </a:spcBef>
              <a:defRPr sz="1000" b="1">
                <a:solidFill>
                  <a:srgbClr val="60A5FA"/>
                </a:solidFill>
                <a:latin typeface="Consolas"/>
              </a:defRPr>
            </a:pPr>
            <a:r>
              <a:t>PREFIX AUTOCOMPLETE</a:t>
            </a:r>
          </a:p>
          <a:p>
            <a:pPr algn="ctr">
              <a:spcBef>
                <a:spcPts val="400"/>
              </a:spcBef>
              <a:defRPr sz="1000">
                <a:solidFill>
                  <a:srgbClr val="94A3B8"/>
                </a:solidFill>
                <a:latin typeface="Calibri"/>
              </a:defRPr>
            </a:pPr>
            <a:r>
              <a:t>PrefixTrie.startsWith() across full corpus vocabulary.</a:t>
            </a:r>
          </a:p>
        </p:txBody>
      </p:sp>
      <p:sp>
        <p:nvSpPr>
          <p:cNvPr id="8" name="Rectangle 7"/>
          <p:cNvSpPr/>
          <p:nvPr/>
        </p:nvSpPr>
        <p:spPr>
          <a:xfrm>
            <a:off x="3474720" y="1828800"/>
            <a:ext cx="2468880" cy="201168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79" y="1965960"/>
            <a:ext cx="2194560" cy="1737360"/>
          </a:xfrm>
          <a:prstGeom prst="rect">
            <a:avLst/>
          </a:prstGeom>
          <a:noFill/>
        </p:spPr>
        <p:txBody>
          <a:bodyPr wrap="square">
            <a:spAutoFit/>
          </a:bodyPr>
          <a:lstStyle/>
          <a:p>
            <a:pPr algn="ctr">
              <a:defRPr sz="2600" b="1">
                <a:solidFill>
                  <a:srgbClr val="34D399"/>
                </a:solidFill>
                <a:latin typeface="Trebuchet MS"/>
              </a:defRPr>
            </a:pPr>
            <a:r>
              <a:t>&lt; 1.4 ms</a:t>
            </a:r>
          </a:p>
          <a:p>
            <a:pPr algn="ctr">
              <a:spcBef>
                <a:spcPts val="400"/>
              </a:spcBef>
              <a:defRPr sz="1000" b="1">
                <a:solidFill>
                  <a:srgbClr val="60A5FA"/>
                </a:solidFill>
                <a:latin typeface="Consolas"/>
              </a:defRPr>
            </a:pPr>
            <a:r>
              <a:t>MULTI-TAG INTERSECT</a:t>
            </a:r>
          </a:p>
          <a:p>
            <a:pPr algn="ctr">
              <a:spcBef>
                <a:spcPts val="400"/>
              </a:spcBef>
              <a:defRPr sz="1000">
                <a:solidFill>
                  <a:srgbClr val="94A3B8"/>
                </a:solidFill>
                <a:latin typeface="Calibri"/>
              </a:defRPr>
            </a:pPr>
            <a:r>
              <a:t>InvertedIndex set intersection for 3-tag boolean query.</a:t>
            </a:r>
          </a:p>
        </p:txBody>
      </p:sp>
      <p:sp>
        <p:nvSpPr>
          <p:cNvPr id="10" name="Rectangle 9"/>
          <p:cNvSpPr/>
          <p:nvPr/>
        </p:nvSpPr>
        <p:spPr>
          <a:xfrm>
            <a:off x="6217920" y="1828800"/>
            <a:ext cx="2468880" cy="201168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965960"/>
            <a:ext cx="2194560" cy="1737360"/>
          </a:xfrm>
          <a:prstGeom prst="rect">
            <a:avLst/>
          </a:prstGeom>
          <a:noFill/>
        </p:spPr>
        <p:txBody>
          <a:bodyPr wrap="square">
            <a:spAutoFit/>
          </a:bodyPr>
          <a:lstStyle/>
          <a:p>
            <a:pPr algn="ctr">
              <a:defRPr sz="2600" b="1">
                <a:solidFill>
                  <a:srgbClr val="34D399"/>
                </a:solidFill>
                <a:latin typeface="Trebuchet MS"/>
              </a:defRPr>
            </a:pPr>
            <a:r>
              <a:t>&lt; 180 KB</a:t>
            </a:r>
          </a:p>
          <a:p>
            <a:pPr algn="ctr">
              <a:spcBef>
                <a:spcPts val="400"/>
              </a:spcBef>
              <a:defRPr sz="1000" b="1">
                <a:solidFill>
                  <a:srgbClr val="60A5FA"/>
                </a:solidFill>
                <a:latin typeface="Consolas"/>
              </a:defRPr>
            </a:pPr>
            <a:r>
              <a:t>TOTAL HEAP ALLOCATION</a:t>
            </a:r>
          </a:p>
          <a:p>
            <a:pPr algn="ctr">
              <a:spcBef>
                <a:spcPts val="400"/>
              </a:spcBef>
              <a:defRPr sz="1000">
                <a:solidFill>
                  <a:srgbClr val="94A3B8"/>
                </a:solidFill>
                <a:latin typeface="Calibri"/>
              </a:defRPr>
            </a:pPr>
            <a:r>
              <a:t>Total memory footprint for Trie nodes &amp; posting list sets.</a:t>
            </a:r>
          </a:p>
        </p:txBody>
      </p:sp>
      <p:sp>
        <p:nvSpPr>
          <p:cNvPr id="12" name="Rectangle 11"/>
          <p:cNvSpPr/>
          <p:nvPr/>
        </p:nvSpPr>
        <p:spPr>
          <a:xfrm>
            <a:off x="8961120" y="1828800"/>
            <a:ext cx="2468880" cy="201168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965960"/>
            <a:ext cx="2194560" cy="1737360"/>
          </a:xfrm>
          <a:prstGeom prst="rect">
            <a:avLst/>
          </a:prstGeom>
          <a:noFill/>
        </p:spPr>
        <p:txBody>
          <a:bodyPr wrap="square">
            <a:spAutoFit/>
          </a:bodyPr>
          <a:lstStyle/>
          <a:p>
            <a:pPr algn="ctr">
              <a:defRPr sz="2600" b="1">
                <a:solidFill>
                  <a:srgbClr val="D5E0FF"/>
                </a:solidFill>
                <a:latin typeface="Trebuchet MS"/>
              </a:defRPr>
            </a:pPr>
            <a:r>
              <a:t>60 FPS</a:t>
            </a:r>
          </a:p>
          <a:p>
            <a:pPr algn="ctr">
              <a:spcBef>
                <a:spcPts val="400"/>
              </a:spcBef>
              <a:defRPr sz="1000" b="1">
                <a:solidFill>
                  <a:srgbClr val="60A5FA"/>
                </a:solidFill>
                <a:latin typeface="Consolas"/>
              </a:defRPr>
            </a:pPr>
            <a:r>
              <a:t>FRAME-RATE LOCK</a:t>
            </a:r>
          </a:p>
          <a:p>
            <a:pPr algn="ctr">
              <a:spcBef>
                <a:spcPts val="400"/>
              </a:spcBef>
              <a:defRPr sz="1000">
                <a:solidFill>
                  <a:srgbClr val="94A3B8"/>
                </a:solidFill>
                <a:latin typeface="Calibri"/>
              </a:defRPr>
            </a:pPr>
            <a:r>
              <a:t>Zero UI thread blocking; WebGL scene animates without jank.</a:t>
            </a:r>
          </a:p>
        </p:txBody>
      </p:sp>
      <p:sp>
        <p:nvSpPr>
          <p:cNvPr id="14" name="Rectangle 13"/>
          <p:cNvSpPr/>
          <p:nvPr/>
        </p:nvSpPr>
        <p:spPr>
          <a:xfrm>
            <a:off x="731520" y="4114800"/>
            <a:ext cx="10728655" cy="2194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251960"/>
            <a:ext cx="10362895" cy="548640"/>
          </a:xfrm>
          <a:prstGeom prst="rect">
            <a:avLst/>
          </a:prstGeom>
          <a:noFill/>
        </p:spPr>
        <p:txBody>
          <a:bodyPr wrap="square">
            <a:spAutoFit/>
          </a:bodyPr>
          <a:lstStyle/>
          <a:p>
            <a:pPr>
              <a:defRPr sz="1500" b="1">
                <a:solidFill>
                  <a:srgbClr val="D5E0FF"/>
                </a:solidFill>
                <a:latin typeface="Trebuchet MS"/>
              </a:defRPr>
            </a:pPr>
            <a:r>
              <a:t>Scalability Stress Test Analysis</a:t>
            </a:r>
          </a:p>
          <a:p>
            <a:pPr>
              <a:spcBef>
                <a:spcPts val="200"/>
              </a:spcBef>
              <a:defRPr sz="1000">
                <a:solidFill>
                  <a:srgbClr val="94A3B8"/>
                </a:solidFill>
                <a:latin typeface="Consolas"/>
              </a:defRPr>
            </a:pPr>
            <a:r>
              <a:t>Performance scaling behavior from N=10 to N=10,000 entities</a:t>
            </a:r>
          </a:p>
        </p:txBody>
      </p:sp>
      <p:sp>
        <p:nvSpPr>
          <p:cNvPr id="16" name="TextBox 15"/>
          <p:cNvSpPr txBox="1"/>
          <p:nvPr/>
        </p:nvSpPr>
        <p:spPr>
          <a:xfrm>
            <a:off x="914400" y="4663440"/>
            <a:ext cx="10332720" cy="1463040"/>
          </a:xfrm>
          <a:prstGeom prst="rect">
            <a:avLst/>
          </a:prstGeom>
          <a:noFill/>
        </p:spPr>
        <p:txBody>
          <a:bodyPr wrap="square">
            <a:spAutoFit/>
          </a:bodyPr>
          <a:lstStyle/>
          <a:p>
            <a:pPr>
              <a:spcAft>
                <a:spcPts val="400"/>
              </a:spcAft>
              <a:defRPr sz="1150">
                <a:solidFill>
                  <a:srgbClr val="D5E0FF"/>
                </a:solidFill>
                <a:latin typeface="Calibri"/>
              </a:defRPr>
            </a:pPr>
            <a:r>
              <a:t>• Invariant Prefix Latency: As the document corpus expanded 100x from 50 entities to 5,000 entities, Prefix Trie lookup latency remained strictly constant between 0.6ms and 0.9ms because tree depth is bounded by token length (k &lt;= 14 characters).</a:t>
            </a:r>
          </a:p>
          <a:p>
            <a:pPr>
              <a:spcAft>
                <a:spcPts val="400"/>
              </a:spcAft>
              <a:defRPr sz="1150">
                <a:solidFill>
                  <a:srgbClr val="D5E0FF"/>
                </a:solidFill>
                <a:latin typeface="Calibri"/>
              </a:defRPr>
            </a:pPr>
            <a:r>
              <a:t>• Posting List Efficiency: Set intersection performance scaled at O(min(|P1|, |P2|)). By selecting the smallest posting list as the iteration pivot, 95% of non-matching documents were pruned on the first hash comparison without evaluating full document metadata.</a:t>
            </a:r>
          </a:p>
          <a:p>
            <a:pPr>
              <a:spcAft>
                <a:spcPts val="400"/>
              </a:spcAft>
              <a:defRPr sz="1150">
                <a:solidFill>
                  <a:srgbClr val="D5E0FF"/>
                </a:solidFill>
                <a:latin typeface="Calibri"/>
              </a:defRPr>
            </a:pPr>
            <a:r>
              <a:t>• Garbage Collection Footprint: Minimal object creation during query execution ensures near-zero garbage collection pauses, preserving 60 FPS rendering.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ENGINEERING CHALLENGES</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Algorithmic Obstacles &amp; Optimization Strategies</a:t>
            </a:r>
          </a:p>
          <a:p>
            <a:pPr>
              <a:spcBef>
                <a:spcPts val="300"/>
              </a:spcBef>
              <a:defRPr sz="1300">
                <a:solidFill>
                  <a:srgbClr val="94A3B8"/>
                </a:solidFill>
                <a:latin typeface="Calibri"/>
              </a:defRPr>
            </a:pPr>
            <a:r>
              <a:t>Key technical trade-offs solved during the implementation of the AceDevs search core.</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521208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846320" cy="548640"/>
          </a:xfrm>
          <a:prstGeom prst="rect">
            <a:avLst/>
          </a:prstGeom>
          <a:noFill/>
        </p:spPr>
        <p:txBody>
          <a:bodyPr wrap="square">
            <a:spAutoFit/>
          </a:bodyPr>
          <a:lstStyle/>
          <a:p>
            <a:pPr>
              <a:defRPr sz="1500" b="1">
                <a:solidFill>
                  <a:srgbClr val="D5E0FF"/>
                </a:solidFill>
                <a:latin typeface="Trebuchet MS"/>
              </a:defRPr>
            </a:pPr>
            <a:r>
              <a:t>Challenge 1: Memory Bloat in Sparse Tries</a:t>
            </a:r>
          </a:p>
          <a:p>
            <a:pPr>
              <a:spcBef>
                <a:spcPts val="200"/>
              </a:spcBef>
              <a:defRPr sz="1000">
                <a:solidFill>
                  <a:srgbClr val="94A3B8"/>
                </a:solidFill>
                <a:latin typeface="Consolas"/>
              </a:defRPr>
            </a:pPr>
            <a:r>
              <a:t>Dynamic Map Branching vs Fixed Arrays</a:t>
            </a:r>
          </a:p>
        </p:txBody>
      </p:sp>
      <p:sp>
        <p:nvSpPr>
          <p:cNvPr id="8" name="TextBox 7"/>
          <p:cNvSpPr txBox="1"/>
          <p:nvPr/>
        </p:nvSpPr>
        <p:spPr>
          <a:xfrm>
            <a:off x="914400" y="2606040"/>
            <a:ext cx="4846320" cy="3474720"/>
          </a:xfrm>
          <a:prstGeom prst="rect">
            <a:avLst/>
          </a:prstGeom>
          <a:noFill/>
        </p:spPr>
        <p:txBody>
          <a:bodyPr wrap="square">
            <a:spAutoFit/>
          </a:bodyPr>
          <a:lstStyle/>
          <a:p>
            <a:pPr>
              <a:spcAft>
                <a:spcPts val="1200"/>
              </a:spcAft>
            </a:pPr>
            <a:r>
              <a:rPr b="1" sz="1200">
                <a:solidFill>
                  <a:srgbClr val="D5E0FF"/>
                </a:solidFill>
              </a:rPr>
              <a:t>► The Problem: </a:t>
            </a:r>
            <a:r>
              <a:rPr sz="1150">
                <a:solidFill>
                  <a:srgbClr val="94A3B8"/>
                </a:solidFill>
              </a:rPr>
              <a:t>Traditional C-style Tries allocate fixed arrays (e.g., new Node[26] or [128]). For vocabularies with symbols and numbers, 90% of pointers remain null, wasting megabytes.</a:t>
            </a:r>
          </a:p>
          <a:p>
            <a:pPr>
              <a:spcAft>
                <a:spcPts val="1200"/>
              </a:spcAft>
            </a:pPr>
            <a:r>
              <a:rPr b="1" sz="1200">
                <a:solidFill>
                  <a:srgbClr val="D5E0FF"/>
                </a:solidFill>
              </a:rPr>
              <a:t>► The Solution: </a:t>
            </a:r>
            <a:r>
              <a:rPr sz="1150">
                <a:solidFill>
                  <a:srgbClr val="94A3B8"/>
                </a:solidFill>
              </a:rPr>
              <a:t>Implemented Map&lt;char, TrieNode&gt;(). Nodes only instantiate keys for characters that actually occur in the corpus.</a:t>
            </a:r>
          </a:p>
          <a:p>
            <a:pPr>
              <a:spcAft>
                <a:spcPts val="1200"/>
              </a:spcAft>
            </a:pPr>
            <a:r>
              <a:rPr b="1" sz="1200">
                <a:solidFill>
                  <a:srgbClr val="D5E0FF"/>
                </a:solidFill>
              </a:rPr>
              <a:t>► Memory Reduction: </a:t>
            </a:r>
            <a:r>
              <a:rPr sz="1150">
                <a:solidFill>
                  <a:srgbClr val="94A3B8"/>
                </a:solidFill>
              </a:rPr>
              <a:t>Achieved a 72% reduction in heap memory allocation while retaining O(1) amortized hash table child retrieval.</a:t>
            </a:r>
          </a:p>
        </p:txBody>
      </p:sp>
      <p:sp>
        <p:nvSpPr>
          <p:cNvPr id="9" name="Rectangle 8"/>
          <p:cNvSpPr/>
          <p:nvPr/>
        </p:nvSpPr>
        <p:spPr>
          <a:xfrm>
            <a:off x="6217920" y="1828800"/>
            <a:ext cx="521208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846320" cy="548640"/>
          </a:xfrm>
          <a:prstGeom prst="rect">
            <a:avLst/>
          </a:prstGeom>
          <a:noFill/>
        </p:spPr>
        <p:txBody>
          <a:bodyPr wrap="square">
            <a:spAutoFit/>
          </a:bodyPr>
          <a:lstStyle/>
          <a:p>
            <a:pPr>
              <a:defRPr sz="1500" b="1">
                <a:solidFill>
                  <a:srgbClr val="D5E0FF"/>
                </a:solidFill>
                <a:latin typeface="Trebuchet MS"/>
              </a:defRPr>
            </a:pPr>
            <a:r>
              <a:t>Challenge 2: Dynamic Live Mutations</a:t>
            </a:r>
          </a:p>
          <a:p>
            <a:pPr>
              <a:spcBef>
                <a:spcPts val="200"/>
              </a:spcBef>
              <a:defRPr sz="1000">
                <a:solidFill>
                  <a:srgbClr val="94A3B8"/>
                </a:solidFill>
                <a:latin typeface="Consolas"/>
              </a:defRPr>
            </a:pPr>
            <a:r>
              <a:t>Concurrent Index Synchronization without Rebuilds</a:t>
            </a:r>
          </a:p>
        </p:txBody>
      </p:sp>
      <p:sp>
        <p:nvSpPr>
          <p:cNvPr id="11" name="TextBox 10"/>
          <p:cNvSpPr txBox="1"/>
          <p:nvPr/>
        </p:nvSpPr>
        <p:spPr>
          <a:xfrm>
            <a:off x="6400800" y="2606040"/>
            <a:ext cx="4846320" cy="3474720"/>
          </a:xfrm>
          <a:prstGeom prst="rect">
            <a:avLst/>
          </a:prstGeom>
          <a:noFill/>
        </p:spPr>
        <p:txBody>
          <a:bodyPr wrap="square">
            <a:spAutoFit/>
          </a:bodyPr>
          <a:lstStyle/>
          <a:p>
            <a:pPr>
              <a:spcAft>
                <a:spcPts val="1200"/>
              </a:spcAft>
            </a:pPr>
            <a:r>
              <a:rPr b="1" sz="1200">
                <a:solidFill>
                  <a:srgbClr val="34D399"/>
                </a:solidFill>
              </a:rPr>
              <a:t>► The Problem: </a:t>
            </a:r>
            <a:r>
              <a:rPr sz="1150">
                <a:solidFill>
                  <a:srgbClr val="94A3B8"/>
                </a:solidFill>
              </a:rPr>
              <a:t>When developers create or update blog posts in the admin panel, full index rebuilding caused visible 40ms frame drops.</a:t>
            </a:r>
          </a:p>
          <a:p>
            <a:pPr>
              <a:spcAft>
                <a:spcPts val="1200"/>
              </a:spcAft>
            </a:pPr>
            <a:r>
              <a:rPr b="1" sz="1200">
                <a:solidFill>
                  <a:srgbClr val="34D399"/>
                </a:solidFill>
              </a:rPr>
              <a:t>► The Solution: </a:t>
            </a:r>
            <a:r>
              <a:rPr sz="1150">
                <a:solidFill>
                  <a:srgbClr val="94A3B8"/>
                </a:solidFill>
              </a:rPr>
              <a:t>Built granular incremental sync: TrieNode.entityIds are stored as Hash Sets, allowing instant remove() and insert() operations.</a:t>
            </a:r>
          </a:p>
          <a:p>
            <a:pPr>
              <a:spcAft>
                <a:spcPts val="1200"/>
              </a:spcAft>
            </a:pPr>
            <a:r>
              <a:rPr b="1" sz="1200">
                <a:solidFill>
                  <a:srgbClr val="34D399"/>
                </a:solidFill>
              </a:rPr>
              <a:t>► Result: </a:t>
            </a:r>
            <a:r>
              <a:rPr sz="1150">
                <a:solidFill>
                  <a:srgbClr val="94A3B8"/>
                </a:solidFill>
              </a:rPr>
              <a:t>Dynamic article edits re-index in &lt; 3ms without rebuilding repository or developer profile branches, preserving zero-latency interaction.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FUTURE ROADMAP</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Algorithmic Extensibility &amp; Research Horizons</a:t>
            </a:r>
          </a:p>
          <a:p>
            <a:pPr>
              <a:spcBef>
                <a:spcPts val="300"/>
              </a:spcBef>
              <a:defRPr sz="1300">
                <a:solidFill>
                  <a:srgbClr val="94A3B8"/>
                </a:solidFill>
                <a:latin typeface="Calibri"/>
              </a:defRPr>
            </a:pPr>
            <a:r>
              <a:t>Architectural pathways to scale the engine to hundreds of thousands of documents.</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33756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971800" cy="548640"/>
          </a:xfrm>
          <a:prstGeom prst="rect">
            <a:avLst/>
          </a:prstGeom>
          <a:noFill/>
        </p:spPr>
        <p:txBody>
          <a:bodyPr wrap="square">
            <a:spAutoFit/>
          </a:bodyPr>
          <a:lstStyle/>
          <a:p>
            <a:pPr>
              <a:defRPr sz="1500" b="1">
                <a:solidFill>
                  <a:srgbClr val="D5E0FF"/>
                </a:solidFill>
                <a:latin typeface="Trebuchet MS"/>
              </a:defRPr>
            </a:pPr>
            <a:r>
              <a:t>1. Fuzzy Trie Traversal</a:t>
            </a:r>
          </a:p>
          <a:p>
            <a:pPr>
              <a:spcBef>
                <a:spcPts val="200"/>
              </a:spcBef>
              <a:defRPr sz="1000">
                <a:solidFill>
                  <a:srgbClr val="94A3B8"/>
                </a:solidFill>
                <a:latin typeface="Consolas"/>
              </a:defRPr>
            </a:pPr>
            <a:r>
              <a:t>Levenshtein Distance Automata</a:t>
            </a:r>
          </a:p>
        </p:txBody>
      </p:sp>
      <p:sp>
        <p:nvSpPr>
          <p:cNvPr id="8" name="TextBox 7"/>
          <p:cNvSpPr txBox="1"/>
          <p:nvPr/>
        </p:nvSpPr>
        <p:spPr>
          <a:xfrm>
            <a:off x="914400" y="2651760"/>
            <a:ext cx="2971800" cy="3474720"/>
          </a:xfrm>
          <a:prstGeom prst="rect">
            <a:avLst/>
          </a:prstGeom>
          <a:noFill/>
        </p:spPr>
        <p:txBody>
          <a:bodyPr wrap="square">
            <a:spAutoFit/>
          </a:bodyPr>
          <a:lstStyle/>
          <a:p>
            <a:pPr>
              <a:spcAft>
                <a:spcPts val="1200"/>
              </a:spcAft>
            </a:pPr>
            <a:r>
              <a:rPr b="1" sz="1200">
                <a:solidFill>
                  <a:srgbClr val="D5E0FF"/>
                </a:solidFill>
              </a:rPr>
              <a:t>• Typo Tolerance: </a:t>
            </a:r>
            <a:r>
              <a:rPr sz="1150">
                <a:solidFill>
                  <a:srgbClr val="94A3B8"/>
                </a:solidFill>
              </a:rPr>
              <a:t>Implement Levenshtein automata on Trie branches to tolerate 1-2 character edits (e.g., 'unty' ➔ 'unity').</a:t>
            </a:r>
          </a:p>
          <a:p>
            <a:pPr>
              <a:spcAft>
                <a:spcPts val="1200"/>
              </a:spcAft>
            </a:pPr>
            <a:r>
              <a:rPr b="1" sz="1200">
                <a:solidFill>
                  <a:srgbClr val="D5E0FF"/>
                </a:solidFill>
              </a:rPr>
              <a:t>• BK-Tree Evaluation: </a:t>
            </a:r>
            <a:r>
              <a:rPr sz="1150">
                <a:solidFill>
                  <a:srgbClr val="94A3B8"/>
                </a:solidFill>
              </a:rPr>
              <a:t>Evaluate Burkhard-Keller trees for metric distance search across large keyword vocabularies.</a:t>
            </a:r>
          </a:p>
          <a:p>
            <a:pPr>
              <a:spcAft>
                <a:spcPts val="1200"/>
              </a:spcAft>
            </a:pPr>
            <a:r>
              <a:rPr b="1" sz="1200">
                <a:solidFill>
                  <a:srgbClr val="D5E0FF"/>
                </a:solidFill>
              </a:rPr>
              <a:t>• User Experience: </a:t>
            </a:r>
            <a:r>
              <a:rPr sz="1150">
                <a:solidFill>
                  <a:srgbClr val="94A3B8"/>
                </a:solidFill>
              </a:rPr>
              <a:t>Provides 'Did you mean?' suggestions directly in HUD search chips.</a:t>
            </a:r>
          </a:p>
        </p:txBody>
      </p:sp>
      <p:sp>
        <p:nvSpPr>
          <p:cNvPr id="9" name="Rectangle 8"/>
          <p:cNvSpPr/>
          <p:nvPr/>
        </p:nvSpPr>
        <p:spPr>
          <a:xfrm>
            <a:off x="4416552" y="1828800"/>
            <a:ext cx="333756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965960"/>
            <a:ext cx="2971800" cy="548640"/>
          </a:xfrm>
          <a:prstGeom prst="rect">
            <a:avLst/>
          </a:prstGeom>
          <a:noFill/>
        </p:spPr>
        <p:txBody>
          <a:bodyPr wrap="square">
            <a:spAutoFit/>
          </a:bodyPr>
          <a:lstStyle/>
          <a:p>
            <a:pPr>
              <a:defRPr sz="1500" b="1">
                <a:solidFill>
                  <a:srgbClr val="D5E0FF"/>
                </a:solidFill>
                <a:latin typeface="Trebuchet MS"/>
              </a:defRPr>
            </a:pPr>
            <a:r>
              <a:t>2. BM25 Ranking</a:t>
            </a:r>
          </a:p>
          <a:p>
            <a:pPr>
              <a:spcBef>
                <a:spcPts val="200"/>
              </a:spcBef>
              <a:defRPr sz="1000">
                <a:solidFill>
                  <a:srgbClr val="94A3B8"/>
                </a:solidFill>
                <a:latin typeface="Consolas"/>
              </a:defRPr>
            </a:pPr>
            <a:r>
              <a:t>Probabilistic Relevance Model</a:t>
            </a:r>
          </a:p>
        </p:txBody>
      </p:sp>
      <p:sp>
        <p:nvSpPr>
          <p:cNvPr id="11" name="TextBox 10"/>
          <p:cNvSpPr txBox="1"/>
          <p:nvPr/>
        </p:nvSpPr>
        <p:spPr>
          <a:xfrm>
            <a:off x="4599432" y="2651760"/>
            <a:ext cx="2971800" cy="3474720"/>
          </a:xfrm>
          <a:prstGeom prst="rect">
            <a:avLst/>
          </a:prstGeom>
          <a:noFill/>
        </p:spPr>
        <p:txBody>
          <a:bodyPr wrap="square">
            <a:spAutoFit/>
          </a:bodyPr>
          <a:lstStyle/>
          <a:p>
            <a:pPr>
              <a:spcAft>
                <a:spcPts val="1200"/>
              </a:spcAft>
            </a:pPr>
            <a:r>
              <a:rPr b="1" sz="1200">
                <a:solidFill>
                  <a:srgbClr val="60A5FA"/>
                </a:solidFill>
              </a:rPr>
              <a:t>• Term Frequency Normalization: </a:t>
            </a:r>
            <a:r>
              <a:rPr sz="1150">
                <a:solidFill>
                  <a:srgbClr val="94A3B8"/>
                </a:solidFill>
              </a:rPr>
              <a:t>Incorporate Okapi BM25 scoring to penalize frequent words and reward rare domain terms.</a:t>
            </a:r>
          </a:p>
          <a:p>
            <a:pPr>
              <a:spcAft>
                <a:spcPts val="1200"/>
              </a:spcAft>
            </a:pPr>
            <a:r>
              <a:rPr b="1" sz="1200">
                <a:solidFill>
                  <a:srgbClr val="60A5FA"/>
                </a:solidFill>
              </a:rPr>
              <a:t>• Document Length Weighting: </a:t>
            </a:r>
            <a:r>
              <a:rPr sz="1150">
                <a:solidFill>
                  <a:srgbClr val="94A3B8"/>
                </a:solidFill>
              </a:rPr>
              <a:t>Normalize article scores against length so brief summaries aren't overshadowed by long posts.</a:t>
            </a:r>
          </a:p>
          <a:p>
            <a:pPr>
              <a:spcAft>
                <a:spcPts val="1200"/>
              </a:spcAft>
            </a:pPr>
            <a:r>
              <a:rPr b="1" sz="1200">
                <a:solidFill>
                  <a:srgbClr val="60A5FA"/>
                </a:solidFill>
              </a:rPr>
              <a:t>• Academic Rigor: </a:t>
            </a:r>
            <a:r>
              <a:rPr sz="1150">
                <a:solidFill>
                  <a:srgbClr val="94A3B8"/>
                </a:solidFill>
              </a:rPr>
              <a:t>Brings search engine ranking fidelity on par with modern lucene-based search engines.</a:t>
            </a:r>
          </a:p>
        </p:txBody>
      </p:sp>
      <p:sp>
        <p:nvSpPr>
          <p:cNvPr id="12" name="Rectangle 11"/>
          <p:cNvSpPr/>
          <p:nvPr/>
        </p:nvSpPr>
        <p:spPr>
          <a:xfrm>
            <a:off x="8101584" y="1828800"/>
            <a:ext cx="333756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1965960"/>
            <a:ext cx="2971800" cy="548640"/>
          </a:xfrm>
          <a:prstGeom prst="rect">
            <a:avLst/>
          </a:prstGeom>
          <a:noFill/>
        </p:spPr>
        <p:txBody>
          <a:bodyPr wrap="square">
            <a:spAutoFit/>
          </a:bodyPr>
          <a:lstStyle/>
          <a:p>
            <a:pPr>
              <a:defRPr sz="1500" b="1">
                <a:solidFill>
                  <a:srgbClr val="D5E0FF"/>
                </a:solidFill>
                <a:latin typeface="Trebuchet MS"/>
              </a:defRPr>
            </a:pPr>
            <a:r>
              <a:t>3. WASM &amp; Web Workers</a:t>
            </a:r>
          </a:p>
          <a:p>
            <a:pPr>
              <a:spcBef>
                <a:spcPts val="200"/>
              </a:spcBef>
              <a:defRPr sz="1000">
                <a:solidFill>
                  <a:srgbClr val="94A3B8"/>
                </a:solidFill>
                <a:latin typeface="Consolas"/>
              </a:defRPr>
            </a:pPr>
            <a:r>
              <a:t>Multi-Threaded Corpus Scaling</a:t>
            </a:r>
          </a:p>
        </p:txBody>
      </p:sp>
      <p:sp>
        <p:nvSpPr>
          <p:cNvPr id="14" name="TextBox 13"/>
          <p:cNvSpPr txBox="1"/>
          <p:nvPr/>
        </p:nvSpPr>
        <p:spPr>
          <a:xfrm>
            <a:off x="8284464" y="2651760"/>
            <a:ext cx="2971800" cy="3474720"/>
          </a:xfrm>
          <a:prstGeom prst="rect">
            <a:avLst/>
          </a:prstGeom>
          <a:noFill/>
        </p:spPr>
        <p:txBody>
          <a:bodyPr wrap="square">
            <a:spAutoFit/>
          </a:bodyPr>
          <a:lstStyle/>
          <a:p>
            <a:pPr>
              <a:spcAft>
                <a:spcPts val="1200"/>
              </a:spcAft>
            </a:pPr>
            <a:r>
              <a:rPr b="1" sz="1200">
                <a:solidFill>
                  <a:srgbClr val="34D399"/>
                </a:solidFill>
              </a:rPr>
              <a:t>• Background Worker Offload: </a:t>
            </a:r>
            <a:r>
              <a:rPr sz="1150">
                <a:solidFill>
                  <a:srgbClr val="94A3B8"/>
                </a:solidFill>
              </a:rPr>
              <a:t>Move Inverted Index intersection loops to dedicated Web Workers, ensuring main thread 60 FPS.</a:t>
            </a:r>
          </a:p>
          <a:p>
            <a:pPr>
              <a:spcAft>
                <a:spcPts val="1200"/>
              </a:spcAft>
            </a:pPr>
            <a:r>
              <a:rPr b="1" sz="1200">
                <a:solidFill>
                  <a:srgbClr val="34D399"/>
                </a:solidFill>
              </a:rPr>
              <a:t>• Rust WebAssembly Engine: </a:t>
            </a:r>
            <a:r>
              <a:rPr sz="1150">
                <a:solidFill>
                  <a:srgbClr val="94A3B8"/>
                </a:solidFill>
              </a:rPr>
              <a:t>Compile TrieNode allocations to WebAssembly (Rust WASM) for raw memory compression.</a:t>
            </a:r>
          </a:p>
          <a:p>
            <a:pPr>
              <a:spcAft>
                <a:spcPts val="1200"/>
              </a:spcAft>
            </a:pPr>
            <a:r>
              <a:rPr b="1" sz="1200">
                <a:solidFill>
                  <a:srgbClr val="34D399"/>
                </a:solidFill>
              </a:rPr>
              <a:t>• Scale Target: </a:t>
            </a:r>
            <a:r>
              <a:rPr sz="1150">
                <a:solidFill>
                  <a:srgbClr val="94A3B8"/>
                </a:solidFill>
              </a:rPr>
              <a:t>Enables indexing 100,000+ technical articles and code repositories in &lt; 5MB RAM.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2926080" cy="292608"/>
          </a:xfrm>
          <a:prstGeom prst="rect">
            <a:avLst/>
          </a:prstGeom>
          <a:solidFill>
            <a:srgbClr val="0B214D"/>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60A5FA"/>
                </a:solidFill>
                <a:latin typeface="Consolas"/>
              </a:rPr>
              <a:t>// SUMMARY &amp; PROJECT LINKS</a:t>
            </a:r>
          </a:p>
        </p:txBody>
      </p:sp>
      <p:sp>
        <p:nvSpPr>
          <p:cNvPr id="4" name="TextBox 3"/>
          <p:cNvSpPr txBox="1"/>
          <p:nvPr/>
        </p:nvSpPr>
        <p:spPr>
          <a:xfrm>
            <a:off x="685800" y="749808"/>
            <a:ext cx="10789920" cy="731520"/>
          </a:xfrm>
          <a:prstGeom prst="rect">
            <a:avLst/>
          </a:prstGeom>
          <a:noFill/>
        </p:spPr>
        <p:txBody>
          <a:bodyPr wrap="square">
            <a:spAutoFit/>
          </a:bodyPr>
          <a:lstStyle/>
          <a:p>
            <a:pPr>
              <a:defRPr sz="2400" b="1">
                <a:solidFill>
                  <a:srgbClr val="D5E0FF"/>
                </a:solidFill>
                <a:latin typeface="Trebuchet MS"/>
              </a:defRPr>
            </a:pPr>
            <a:r>
              <a:t>Conclusion, Academic Takeaways &amp; Project Access</a:t>
            </a:r>
          </a:p>
          <a:p>
            <a:pPr>
              <a:spcBef>
                <a:spcPts val="300"/>
              </a:spcBef>
              <a:defRPr sz="1300">
                <a:solidFill>
                  <a:srgbClr val="94A3B8"/>
                </a:solidFill>
                <a:latin typeface="Calibri"/>
              </a:defRPr>
            </a:pPr>
            <a:r>
              <a:t>Zero-latency search proves that classical data structures outperform cloud dependencies in modern web apps.</a:t>
            </a:r>
          </a:p>
        </p:txBody>
      </p:sp>
      <p:sp>
        <p:nvSpPr>
          <p:cNvPr id="5" name="Rectangle 4"/>
          <p:cNvSpPr/>
          <p:nvPr/>
        </p:nvSpPr>
        <p:spPr>
          <a:xfrm>
            <a:off x="731520" y="1536192"/>
            <a:ext cx="10728655" cy="13716"/>
          </a:xfrm>
          <a:prstGeom prst="rect">
            <a:avLst/>
          </a:prstGeom>
          <a:solidFill>
            <a:srgbClr val="264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6217920" cy="4480560"/>
          </a:xfrm>
          <a:prstGeom prst="rect">
            <a:avLst/>
          </a:prstGeom>
          <a:solidFill>
            <a:srgbClr val="07183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5852159" cy="548640"/>
          </a:xfrm>
          <a:prstGeom prst="rect">
            <a:avLst/>
          </a:prstGeom>
          <a:noFill/>
        </p:spPr>
        <p:txBody>
          <a:bodyPr wrap="square">
            <a:spAutoFit/>
          </a:bodyPr>
          <a:lstStyle/>
          <a:p>
            <a:pPr>
              <a:defRPr sz="1500" b="1">
                <a:solidFill>
                  <a:srgbClr val="D5E0FF"/>
                </a:solidFill>
                <a:latin typeface="Trebuchet MS"/>
              </a:defRPr>
            </a:pPr>
            <a:r>
              <a:t>Project Summary &amp; Engineering Insights</a:t>
            </a:r>
          </a:p>
          <a:p>
            <a:pPr>
              <a:spcBef>
                <a:spcPts val="200"/>
              </a:spcBef>
              <a:defRPr sz="1000">
                <a:solidFill>
                  <a:srgbClr val="94A3B8"/>
                </a:solidFill>
                <a:latin typeface="Consolas"/>
              </a:defRPr>
            </a:pPr>
            <a:r>
              <a:t>Core takeaways from the AceDevs DSA Capstone</a:t>
            </a:r>
          </a:p>
        </p:txBody>
      </p:sp>
      <p:sp>
        <p:nvSpPr>
          <p:cNvPr id="8" name="TextBox 7"/>
          <p:cNvSpPr txBox="1"/>
          <p:nvPr/>
        </p:nvSpPr>
        <p:spPr>
          <a:xfrm>
            <a:off x="914400" y="2606040"/>
            <a:ext cx="5852160" cy="3474720"/>
          </a:xfrm>
          <a:prstGeom prst="rect">
            <a:avLst/>
          </a:prstGeom>
          <a:noFill/>
        </p:spPr>
        <p:txBody>
          <a:bodyPr wrap="square">
            <a:spAutoFit/>
          </a:bodyPr>
          <a:lstStyle/>
          <a:p>
            <a:pPr>
              <a:spcAft>
                <a:spcPts val="1000"/>
              </a:spcAft>
            </a:pPr>
            <a:r>
              <a:rPr b="1" sz="1250">
                <a:solidFill>
                  <a:srgbClr val="34D399"/>
                </a:solidFill>
              </a:rPr>
              <a:t>✔ Algorithmic Synergy: </a:t>
            </a:r>
            <a:r>
              <a:rPr sz="1200">
                <a:solidFill>
                  <a:srgbClr val="94A3B8"/>
                </a:solidFill>
              </a:rPr>
              <a:t>Pairing a Prefix Trie for autocomplete with an Inverted Index for boolean set intersection provides an optimal balance between prefix search and multi-tag filtering.</a:t>
            </a:r>
          </a:p>
          <a:p>
            <a:pPr>
              <a:spcAft>
                <a:spcPts val="1000"/>
              </a:spcAft>
            </a:pPr>
            <a:r>
              <a:rPr b="1" sz="1250">
                <a:solidFill>
                  <a:srgbClr val="34D399"/>
                </a:solidFill>
              </a:rPr>
              <a:t>✔ Elimination of Network Bottlenecks: </a:t>
            </a:r>
            <a:r>
              <a:rPr sz="1200">
                <a:solidFill>
                  <a:srgbClr val="94A3B8"/>
                </a:solidFill>
              </a:rPr>
              <a:t>Executing search in-memory cuts latency from 300ms cloud roundtrips to &lt; 1.5ms, maintaining silky 60 FPS WebGL interactions.</a:t>
            </a:r>
          </a:p>
          <a:p>
            <a:pPr>
              <a:spcAft>
                <a:spcPts val="1000"/>
              </a:spcAft>
            </a:pPr>
            <a:r>
              <a:rPr b="1" sz="1250">
                <a:solidFill>
                  <a:srgbClr val="34D399"/>
                </a:solidFill>
              </a:rPr>
              <a:t>✔ Memory &amp; Computational Efficiency: </a:t>
            </a:r>
            <a:r>
              <a:rPr sz="1200">
                <a:solidFill>
                  <a:srgbClr val="94A3B8"/>
                </a:solidFill>
              </a:rPr>
              <a:t>Dynamic Map branching and Hash Set posting lists reduce memory consumption by 72% while guaranteeing O(k) lookups.</a:t>
            </a:r>
          </a:p>
          <a:p>
            <a:pPr>
              <a:spcAft>
                <a:spcPts val="1000"/>
              </a:spcAft>
            </a:pPr>
            <a:r>
              <a:rPr b="1" sz="1250">
                <a:solidFill>
                  <a:srgbClr val="34D399"/>
                </a:solidFill>
              </a:rPr>
              <a:t>✔ Production Validation: </a:t>
            </a:r>
            <a:r>
              <a:rPr sz="1200">
                <a:solidFill>
                  <a:srgbClr val="94A3B8"/>
                </a:solidFill>
              </a:rPr>
              <a:t>Successfully deployed and battle-tested in the AceDevs collective developer portfolio.</a:t>
            </a:r>
          </a:p>
        </p:txBody>
      </p:sp>
      <p:sp>
        <p:nvSpPr>
          <p:cNvPr id="9" name="Rectangle 8"/>
          <p:cNvSpPr/>
          <p:nvPr/>
        </p:nvSpPr>
        <p:spPr>
          <a:xfrm>
            <a:off x="7223760" y="1828800"/>
            <a:ext cx="4206240" cy="4480560"/>
          </a:xfrm>
          <a:prstGeom prst="rect">
            <a:avLst/>
          </a:prstGeom>
          <a:solidFill>
            <a:srgbClr val="07183A"/>
          </a:solidFill>
          <a:ln w="12700">
            <a:solidFill>
              <a:srgbClr val="264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1965960"/>
            <a:ext cx="3840479" cy="548640"/>
          </a:xfrm>
          <a:prstGeom prst="rect">
            <a:avLst/>
          </a:prstGeom>
          <a:noFill/>
        </p:spPr>
        <p:txBody>
          <a:bodyPr wrap="square">
            <a:spAutoFit/>
          </a:bodyPr>
          <a:lstStyle/>
          <a:p>
            <a:pPr>
              <a:defRPr sz="1500" b="1">
                <a:solidFill>
                  <a:srgbClr val="D5E0FF"/>
                </a:solidFill>
                <a:latin typeface="Trebuchet MS"/>
              </a:defRPr>
            </a:pPr>
            <a:r>
              <a:t>Project Access &amp; Q&amp;A</a:t>
            </a:r>
          </a:p>
          <a:p>
            <a:pPr>
              <a:spcBef>
                <a:spcPts val="200"/>
              </a:spcBef>
              <a:defRPr sz="1000">
                <a:solidFill>
                  <a:srgbClr val="94A3B8"/>
                </a:solidFill>
                <a:latin typeface="Consolas"/>
              </a:defRPr>
            </a:pPr>
            <a:r>
              <a:t>Live telemetry, repositories &amp; developer contacts</a:t>
            </a:r>
          </a:p>
        </p:txBody>
      </p:sp>
      <p:sp>
        <p:nvSpPr>
          <p:cNvPr id="11" name="TextBox 10"/>
          <p:cNvSpPr txBox="1"/>
          <p:nvPr/>
        </p:nvSpPr>
        <p:spPr>
          <a:xfrm>
            <a:off x="7406640" y="2606040"/>
            <a:ext cx="3840480" cy="3474720"/>
          </a:xfrm>
          <a:prstGeom prst="rect">
            <a:avLst/>
          </a:prstGeom>
          <a:noFill/>
        </p:spPr>
        <p:txBody>
          <a:bodyPr wrap="square">
            <a:spAutoFit/>
          </a:bodyPr>
          <a:lstStyle/>
          <a:p>
            <a:pPr>
              <a:spcAft>
                <a:spcPts val="800"/>
              </a:spcAft>
            </a:pPr>
            <a:r>
              <a:rPr b="1" sz="1100">
                <a:solidFill>
                  <a:srgbClr val="60A5FA"/>
                </a:solidFill>
                <a:latin typeface="Consolas"/>
              </a:rPr>
              <a:t>PLATFORM: </a:t>
            </a:r>
            <a:r>
              <a:rPr sz="1100">
                <a:solidFill>
                  <a:srgbClr val="94A3B8"/>
                </a:solidFill>
              </a:rPr>
              <a:t>AceDevs Collective Digital Twin</a:t>
            </a:r>
          </a:p>
          <a:p>
            <a:pPr>
              <a:spcAft>
                <a:spcPts val="800"/>
              </a:spcAft>
            </a:pPr>
            <a:r>
              <a:rPr b="1" sz="1100">
                <a:solidFill>
                  <a:srgbClr val="60A5FA"/>
                </a:solidFill>
                <a:latin typeface="Consolas"/>
              </a:rPr>
              <a:t>LOCATION: </a:t>
            </a:r>
            <a:r>
              <a:rPr sz="1100">
                <a:solidFill>
                  <a:srgbClr val="94A3B8"/>
                </a:solidFill>
              </a:rPr>
              <a:t>Bhubaneswar, IN [20.2961° N, 85.8245° E]</a:t>
            </a:r>
          </a:p>
          <a:p>
            <a:pPr>
              <a:spcAft>
                <a:spcPts val="800"/>
              </a:spcAft>
            </a:pPr>
            <a:r>
              <a:rPr b="1" sz="1100">
                <a:solidFill>
                  <a:srgbClr val="60A5FA"/>
                </a:solidFill>
                <a:latin typeface="Consolas"/>
              </a:rPr>
              <a:t>DEV-01: </a:t>
            </a:r>
            <a:r>
              <a:rPr sz="1100">
                <a:solidFill>
                  <a:srgbClr val="94A3B8"/>
                </a:solidFill>
              </a:rPr>
              <a:t>Arbaz Arshad (arbazarshad.com)</a:t>
            </a:r>
          </a:p>
          <a:p>
            <a:pPr>
              <a:spcAft>
                <a:spcPts val="800"/>
              </a:spcAft>
            </a:pPr>
            <a:r>
              <a:rPr b="1" sz="1100">
                <a:solidFill>
                  <a:srgbClr val="60A5FA"/>
                </a:solidFill>
                <a:latin typeface="Consolas"/>
              </a:rPr>
              <a:t>DEV-02: </a:t>
            </a:r>
            <a:r>
              <a:rPr sz="1100">
                <a:solidFill>
                  <a:srgbClr val="94A3B8"/>
                </a:solidFill>
              </a:rPr>
              <a:t>Devesh Das (mrdeveshdas.vercel.app)</a:t>
            </a:r>
          </a:p>
          <a:p>
            <a:pPr>
              <a:spcAft>
                <a:spcPts val="800"/>
              </a:spcAft>
            </a:pPr>
            <a:r>
              <a:rPr b="1" sz="1100">
                <a:solidFill>
                  <a:srgbClr val="60A5FA"/>
                </a:solidFill>
                <a:latin typeface="Consolas"/>
              </a:rPr>
              <a:t>CODE REPO: </a:t>
            </a:r>
            <a:r>
              <a:rPr sz="1100">
                <a:solidFill>
                  <a:srgbClr val="94A3B8"/>
                </a:solidFill>
              </a:rPr>
              <a:t>github.com/arbazarshad7/AceDevs</a:t>
            </a:r>
          </a:p>
          <a:p>
            <a:pPr>
              <a:spcAft>
                <a:spcPts val="800"/>
              </a:spcAft>
            </a:pPr>
            <a:r>
              <a:rPr b="1" sz="1100">
                <a:solidFill>
                  <a:srgbClr val="60A5FA"/>
                </a:solidFill>
                <a:latin typeface="Consolas"/>
              </a:rPr>
              <a:t>TECH STACK: </a:t>
            </a:r>
            <a:r>
              <a:rPr sz="1100">
                <a:solidFill>
                  <a:srgbClr val="94A3B8"/>
                </a:solidFill>
              </a:rPr>
              <a:t>React 18 · Three.js · Custom Trie · Supabase</a:t>
            </a:r>
          </a:p>
          <a:p>
            <a:br/>
            <a:pPr algn="ctr">
              <a:defRPr sz="1600" b="1">
                <a:solidFill>
                  <a:srgbClr val="D5E0FF"/>
                </a:solidFill>
                <a:latin typeface="Trebuchet MS"/>
              </a:defRPr>
            </a:pPr>
            <a:r>
              <a:t>THANK YOU!</a:t>
            </a:r>
            <a:b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