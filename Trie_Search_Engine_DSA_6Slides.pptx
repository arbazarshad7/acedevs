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cedevs_hud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256032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8FADFF"/>
                </a:solidFill>
                <a:latin typeface="Trebuchet MS"/>
              </a:rPr>
              <a:t>▲ </a:t>
            </a:r>
            <a:r>
              <a:rPr sz="1300" b="1">
                <a:solidFill>
                  <a:srgbClr val="FFFFFF"/>
                </a:solidFill>
                <a:latin typeface="Trebuchet MS"/>
              </a:rPr>
              <a:t>ACEDEVS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256032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SHOWCASE [02]    TEAM [02]    REPOSITORIES [04]    BLOG [05]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256032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D5E0FF"/>
                </a:solidFill>
                <a:latin typeface="Consolas"/>
              </a:defRPr>
            </a:pPr>
            <a:r>
              <a:t>SEARCH [⌘K]    SLIDE [01/06]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  <a:latin typeface="Consolas"/>
              </a:defRPr>
            </a:pPr>
            <a:r>
              <a:t>SYS: ONLINE // SECTOR: DSA-ENGINE  |  COORDINATES: 20.2961° N, 85.8245° E  |  AZIMUTH: 125°  |  ■ V1.0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60120"/>
            <a:ext cx="11002975" cy="13716"/>
          </a:xfrm>
          <a:prstGeom prst="rect">
            <a:avLst/>
          </a:prstGeom>
          <a:solidFill>
            <a:srgbClr val="264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6400800"/>
            <a:ext cx="11002975" cy="13716"/>
          </a:xfrm>
          <a:prstGeom prst="rect">
            <a:avLst/>
          </a:prstGeom>
          <a:solidFill>
            <a:srgbClr val="264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ZOOM 1.0X  500M    ∿ SOUND [ON] // 60 FPS</a:t>
            </a:r>
          </a:p>
        </p:txBody>
      </p:sp>
      <p:sp>
        <p:nvSpPr>
          <p:cNvPr id="10" name="Snip Diagonal Corner Rectangle 9"/>
          <p:cNvSpPr/>
          <p:nvPr/>
        </p:nvSpPr>
        <p:spPr>
          <a:xfrm>
            <a:off x="4663440" y="6446520"/>
            <a:ext cx="2834640" cy="256032"/>
          </a:xfrm>
          <a:prstGeom prst="snip2DiagRect">
            <a:avLst/>
          </a:prstGeom>
          <a:solidFill>
            <a:srgbClr val="041029"/>
          </a:solidFill>
          <a:ln w="1270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>
                <a:solidFill>
                  <a:srgbClr val="D5E0FF"/>
                </a:solidFill>
                <a:latin typeface="Consolas"/>
              </a:rPr>
              <a:t>◎ SYSTEM HERO COCKPIT 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6446520"/>
            <a:ext cx="3154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8FADFF"/>
                </a:solidFill>
                <a:latin typeface="Consolas"/>
              </a:defRPr>
            </a:pPr>
            <a:r>
              <a:t>FILTERS [00]    ◎ 125° N</a:t>
            </a:r>
          </a:p>
        </p:txBody>
      </p:sp>
      <p:sp>
        <p:nvSpPr>
          <p:cNvPr id="12" name="Snip Diagonal Corner Rectangle 11"/>
          <p:cNvSpPr/>
          <p:nvPr/>
        </p:nvSpPr>
        <p:spPr>
          <a:xfrm>
            <a:off x="1645920" y="1234440"/>
            <a:ext cx="8899855" cy="3108960"/>
          </a:xfrm>
          <a:prstGeom prst="snip2DiagRect">
            <a:avLst/>
          </a:prstGeom>
          <a:solidFill>
            <a:srgbClr val="041029"/>
          </a:solidFill>
          <a:ln w="1524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28800" y="1371600"/>
            <a:ext cx="85340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FADFF"/>
                </a:solidFill>
                <a:latin typeface="Consolas"/>
              </a:defRPr>
            </a:pPr>
            <a:r>
              <a:t>COLLECTIVE DEVELOPER PORTFOLIO // DIGITAL TWIN</a:t>
            </a:r>
          </a:p>
          <a:p>
            <a:pPr algn="ctr">
              <a:spcBef>
                <a:spcPts val="600"/>
              </a:spcBef>
              <a:defRPr sz="3200" b="1">
                <a:solidFill>
                  <a:srgbClr val="FFFFFF"/>
                </a:solidFill>
                <a:latin typeface="Trebuchet MS"/>
              </a:defRPr>
            </a:pPr>
            <a:r>
              <a:t>THE TRIE &amp; INVERTED INDEX</a:t>
            </a:r>
            <a:br/>
            <a:r>
              <a:t>SEARCH ENGINE</a:t>
            </a:r>
          </a:p>
          <a:p>
            <a:pPr algn="ctr">
              <a:spcBef>
                <a:spcPts val="600"/>
              </a:spcBef>
              <a:defRPr sz="1300">
                <a:solidFill>
                  <a:srgbClr val="94A3B8"/>
                </a:solidFill>
                <a:latin typeface="Calibri"/>
              </a:defRPr>
            </a:pPr>
            <a:r>
              <a:t>Zero-latency in-memory prefix autocomplete and multi-tag discovery engineered for the AceDevs platform.</a:t>
            </a:r>
          </a:p>
        </p:txBody>
      </p:sp>
      <p:sp>
        <p:nvSpPr>
          <p:cNvPr id="14" name="Snip Diagonal Corner Rectangle 13"/>
          <p:cNvSpPr/>
          <p:nvPr/>
        </p:nvSpPr>
        <p:spPr>
          <a:xfrm>
            <a:off x="2926080" y="3611880"/>
            <a:ext cx="3017520" cy="502920"/>
          </a:xfrm>
          <a:prstGeom prst="snip2DiagRect">
            <a:avLst/>
          </a:prstGeom>
          <a:solidFill>
            <a:srgbClr val="D5E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020A19"/>
                </a:solidFill>
                <a:latin typeface="Trebuchet MS"/>
              </a:rPr>
              <a:t>👤 MEET THE FOUNDERS [02]</a:t>
            </a:r>
          </a:p>
        </p:txBody>
      </p:sp>
      <p:sp>
        <p:nvSpPr>
          <p:cNvPr id="15" name="Snip Diagonal Corner Rectangle 14"/>
          <p:cNvSpPr/>
          <p:nvPr/>
        </p:nvSpPr>
        <p:spPr>
          <a:xfrm>
            <a:off x="6217920" y="3611880"/>
            <a:ext cx="3017520" cy="502920"/>
          </a:xfrm>
          <a:prstGeom prst="snip2DiagRect">
            <a:avLst/>
          </a:prstGeom>
          <a:solidFill>
            <a:srgbClr val="041029"/>
          </a:solidFill>
          <a:ln w="15240">
            <a:solidFill>
              <a:srgbClr val="8FA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D5E0FF"/>
                </a:solidFill>
                <a:latin typeface="Trebuchet MS"/>
              </a:rPr>
              <a:t>📦 IN-MEMORY SEARCH [00]</a:t>
            </a:r>
          </a:p>
        </p:txBody>
      </p:sp>
      <p:sp>
        <p:nvSpPr>
          <p:cNvPr id="16" name="Snip Diagonal Corner Rectangle 15"/>
          <p:cNvSpPr/>
          <p:nvPr/>
        </p:nvSpPr>
        <p:spPr>
          <a:xfrm>
            <a:off x="594360" y="4526280"/>
            <a:ext cx="3474720" cy="1737360"/>
          </a:xfrm>
          <a:prstGeom prst="snip2DiagRect">
            <a:avLst/>
          </a:prstGeom>
          <a:solidFill>
            <a:srgbClr val="041029"/>
          </a:solidFill>
          <a:ln w="1524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61772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8FADFF"/>
                </a:solidFill>
                <a:latin typeface="Consolas"/>
              </a:defRPr>
            </a:pPr>
            <a:r>
              <a:t>⚙ CORE 01           ARBAZ &amp; DEVESH</a:t>
            </a:r>
          </a:p>
          <a:p>
            <a:pPr>
              <a:spcBef>
                <a:spcPts val="300"/>
              </a:spcBef>
              <a:defRPr sz="1400" b="1">
                <a:solidFill>
                  <a:srgbClr val="FFFFFF"/>
                </a:solidFill>
                <a:latin typeface="Trebuchet MS"/>
              </a:defRPr>
            </a:pPr>
            <a:r>
              <a:t>Dual Developer Synergy</a:t>
            </a:r>
          </a:p>
          <a:p>
            <a:pPr>
              <a:spcBef>
                <a:spcPts val="300"/>
              </a:spcBef>
              <a:defRPr sz="1000">
                <a:solidFill>
                  <a:srgbClr val="94A3B8"/>
                </a:solidFill>
                <a:latin typeface="Calibri"/>
              </a:defRPr>
            </a:pPr>
            <a:r>
              <a:t>Arbaz Arshad [DEV-01] &amp; Devesh Das [DEV-02]. Game systems, AI &amp; CS engineering at Centurion University, Bhubaneswar.</a:t>
            </a:r>
          </a:p>
        </p:txBody>
      </p:sp>
      <p:sp>
        <p:nvSpPr>
          <p:cNvPr id="18" name="Snip Diagonal Corner Rectangle 17"/>
          <p:cNvSpPr/>
          <p:nvPr/>
        </p:nvSpPr>
        <p:spPr>
          <a:xfrm>
            <a:off x="4357116" y="4526280"/>
            <a:ext cx="3474720" cy="1737360"/>
          </a:xfrm>
          <a:prstGeom prst="snip2DiagRect">
            <a:avLst/>
          </a:prstGeom>
          <a:solidFill>
            <a:srgbClr val="041029"/>
          </a:solidFill>
          <a:ln w="1524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94276" y="461772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8FADFF"/>
                </a:solidFill>
                <a:latin typeface="Consolas"/>
              </a:defRPr>
            </a:pPr>
            <a:r>
              <a:t>🌐 CORE 02           PREFIX TRIE // O(k)</a:t>
            </a:r>
          </a:p>
          <a:p>
            <a:pPr>
              <a:spcBef>
                <a:spcPts val="300"/>
              </a:spcBef>
              <a:defRPr sz="1400" b="1">
                <a:solidFill>
                  <a:srgbClr val="FFFFFF"/>
                </a:solidFill>
                <a:latin typeface="Trebuchet MS"/>
              </a:defRPr>
            </a:pPr>
            <a:r>
              <a:t>Sub-Millisecond Autocomplete</a:t>
            </a:r>
          </a:p>
          <a:p>
            <a:pPr>
              <a:spcBef>
                <a:spcPts val="300"/>
              </a:spcBef>
              <a:defRPr sz="1000">
                <a:solidFill>
                  <a:srgbClr val="94A3B8"/>
                </a:solidFill>
                <a:latin typeface="Calibri"/>
              </a:defRPr>
            </a:pPr>
            <a:r>
              <a:t>Character-by-character tree branching yielding instant autocomplete suggestions in &lt; 0.8ms without external npm libraries.</a:t>
            </a:r>
          </a:p>
        </p:txBody>
      </p:sp>
      <p:sp>
        <p:nvSpPr>
          <p:cNvPr id="20" name="Snip Diagonal Corner Rectangle 19"/>
          <p:cNvSpPr/>
          <p:nvPr/>
        </p:nvSpPr>
        <p:spPr>
          <a:xfrm>
            <a:off x="8119872" y="4526280"/>
            <a:ext cx="3474720" cy="1737360"/>
          </a:xfrm>
          <a:prstGeom prst="snip2DiagRect">
            <a:avLst/>
          </a:prstGeom>
          <a:solidFill>
            <a:srgbClr val="041029"/>
          </a:solidFill>
          <a:ln w="1524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2" y="461772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8FADFF"/>
                </a:solidFill>
                <a:latin typeface="Consolas"/>
              </a:defRPr>
            </a:pPr>
            <a:r>
              <a:t>🗄 CORE 03           IN-MEMORY INDEX</a:t>
            </a:r>
          </a:p>
          <a:p>
            <a:pPr>
              <a:spcBef>
                <a:spcPts val="300"/>
              </a:spcBef>
              <a:defRPr sz="1400" b="1">
                <a:solidFill>
                  <a:srgbClr val="FFFFFF"/>
                </a:solidFill>
                <a:latin typeface="Trebuchet MS"/>
              </a:defRPr>
            </a:pPr>
            <a:r>
              <a:t>Multi-Tag Set Intersections</a:t>
            </a:r>
          </a:p>
          <a:p>
            <a:pPr>
              <a:spcBef>
                <a:spcPts val="300"/>
              </a:spcBef>
              <a:defRPr sz="1000">
                <a:solidFill>
                  <a:srgbClr val="94A3B8"/>
                </a:solidFill>
                <a:latin typeface="Calibri"/>
              </a:defRPr>
            </a:pPr>
            <a:r>
              <a:t>Mathematical posting list set algebra answering multi-tag boolean queries (#unity ∩ #physics) in &lt; 1.4ms.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cedevs_hud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256032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8FADFF"/>
                </a:solidFill>
                <a:latin typeface="Trebuchet MS"/>
              </a:rPr>
              <a:t>▲ </a:t>
            </a:r>
            <a:r>
              <a:rPr sz="1300" b="1">
                <a:solidFill>
                  <a:srgbClr val="FFFFFF"/>
                </a:solidFill>
                <a:latin typeface="Trebuchet MS"/>
              </a:rPr>
              <a:t>ACEDEVS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256032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SHOWCASE [02]    TEAM [02]    REPOSITORIES [04]    BLOG [05]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256032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D5E0FF"/>
                </a:solidFill>
                <a:latin typeface="Consolas"/>
              </a:defRPr>
            </a:pPr>
            <a:r>
              <a:t>SEARCH [⌘K]    SLIDE [02/06]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  <a:latin typeface="Consolas"/>
              </a:defRPr>
            </a:pPr>
            <a:r>
              <a:t>SYS: ONLINE // SECTOR: DSA-ENGINE  |  COORDINATES: 20.2961° N, 85.8245° E  |  AZIMUTH: 125°  |  ■ V1.0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60120"/>
            <a:ext cx="11002975" cy="13716"/>
          </a:xfrm>
          <a:prstGeom prst="rect">
            <a:avLst/>
          </a:prstGeom>
          <a:solidFill>
            <a:srgbClr val="264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6400800"/>
            <a:ext cx="11002975" cy="13716"/>
          </a:xfrm>
          <a:prstGeom prst="rect">
            <a:avLst/>
          </a:prstGeom>
          <a:solidFill>
            <a:srgbClr val="264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ZOOM 1.0X  500M    ∿ SOUND [ON] // 60 FPS</a:t>
            </a:r>
          </a:p>
        </p:txBody>
      </p:sp>
      <p:sp>
        <p:nvSpPr>
          <p:cNvPr id="10" name="Snip Diagonal Corner Rectangle 9"/>
          <p:cNvSpPr/>
          <p:nvPr/>
        </p:nvSpPr>
        <p:spPr>
          <a:xfrm>
            <a:off x="4663440" y="6446520"/>
            <a:ext cx="2834640" cy="256032"/>
          </a:xfrm>
          <a:prstGeom prst="snip2DiagRect">
            <a:avLst/>
          </a:prstGeom>
          <a:solidFill>
            <a:srgbClr val="041029"/>
          </a:solidFill>
          <a:ln w="1270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>
                <a:solidFill>
                  <a:srgbClr val="D5E0FF"/>
                </a:solidFill>
                <a:latin typeface="Consolas"/>
              </a:rPr>
              <a:t>◎ BOTTLENECK ANALYSIS 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6446520"/>
            <a:ext cx="3154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8FADFF"/>
                </a:solidFill>
                <a:latin typeface="Consolas"/>
              </a:defRPr>
            </a:pPr>
            <a:r>
              <a:t>FILTERS [00]    ◎ 125°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0515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8FADFF"/>
                </a:solidFill>
                <a:latin typeface="Consolas"/>
              </a:rPr>
              <a:t>// ARCHITECTURAL BOTTLENECK  </a:t>
            </a:r>
          </a:p>
          <a:p>
            <a:pPr>
              <a:spcBef>
                <a:spcPts val="200"/>
              </a:spcBef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Why Traditional Search Fails in Modern Web Apps</a:t>
            </a:r>
          </a:p>
          <a:p>
            <a:pPr>
              <a:spcBef>
                <a:spcPts val="200"/>
              </a:spcBef>
              <a:defRPr sz="1150">
                <a:solidFill>
                  <a:srgbClr val="94A3B8"/>
                </a:solidFill>
                <a:latin typeface="Calibri"/>
              </a:defRPr>
            </a:pPr>
            <a:r>
              <a:t>Comparing brute-force linear array loops, cloud search APIs, and our in-memory DSA engine.</a:t>
            </a:r>
          </a:p>
        </p:txBody>
      </p:sp>
      <p:sp>
        <p:nvSpPr>
          <p:cNvPr id="13" name="Snip Diagonal Corner Rectangle 12"/>
          <p:cNvSpPr/>
          <p:nvPr/>
        </p:nvSpPr>
        <p:spPr>
          <a:xfrm>
            <a:off x="594360" y="1965960"/>
            <a:ext cx="3474720" cy="4251960"/>
          </a:xfrm>
          <a:prstGeom prst="snip2DiagRect">
            <a:avLst/>
          </a:prstGeom>
          <a:solidFill>
            <a:srgbClr val="041029"/>
          </a:solidFill>
          <a:ln w="1524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10312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87171"/>
                </a:solidFill>
                <a:latin typeface="Consolas"/>
              </a:defRPr>
            </a:pPr>
            <a:r>
              <a:t>[FAIL 01]  O(N · L) SCANS</a:t>
            </a:r>
          </a:p>
          <a:p>
            <a:pPr>
              <a:spcBef>
                <a:spcPts val="300"/>
              </a:spcBef>
              <a:defRPr sz="1500" b="1">
                <a:solidFill>
                  <a:srgbClr val="FFFFFF"/>
                </a:solidFill>
                <a:latin typeface="Trebuchet MS"/>
              </a:defRPr>
            </a:pPr>
            <a:r>
              <a:t>Naive Array Filtering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D5E0FF"/>
                </a:solidFill>
              </a:rPr>
              <a:t>• O(N · L) Linear Delay: </a:t>
            </a:r>
            <a:r>
              <a:rPr sz="1050">
                <a:solidFill>
                  <a:srgbClr val="94A3B8"/>
                </a:solidFill>
              </a:rPr>
              <a:t>Iterates through every single record and string character by character.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D5E0FF"/>
                </a:solidFill>
              </a:rPr>
              <a:t>• Drops 60 FPS WebGL Frames: </a:t>
            </a:r>
            <a:r>
              <a:rPr sz="1050">
                <a:solidFill>
                  <a:srgbClr val="94A3B8"/>
                </a:solidFill>
              </a:rPr>
              <a:t>JavaScript runs on a single thread. Heavy loops freeze 3D canvas animations.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D5E0FF"/>
                </a:solidFill>
              </a:rPr>
              <a:t>• No Prefix Intelligence: </a:t>
            </a:r>
            <a:r>
              <a:rPr sz="1050">
                <a:solidFill>
                  <a:srgbClr val="94A3B8"/>
                </a:solidFill>
              </a:rPr>
              <a:t>Substring includes() cannot provide structured prefix autocomplete suggestions.</a:t>
            </a:r>
          </a:p>
        </p:txBody>
      </p:sp>
      <p:sp>
        <p:nvSpPr>
          <p:cNvPr id="15" name="Snip Diagonal Corner Rectangle 14"/>
          <p:cNvSpPr/>
          <p:nvPr/>
        </p:nvSpPr>
        <p:spPr>
          <a:xfrm>
            <a:off x="4357116" y="1965960"/>
            <a:ext cx="3474720" cy="4251960"/>
          </a:xfrm>
          <a:prstGeom prst="snip2DiagRect">
            <a:avLst/>
          </a:prstGeom>
          <a:solidFill>
            <a:srgbClr val="041029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9996" y="210312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BBF24"/>
                </a:solidFill>
                <a:latin typeface="Consolas"/>
              </a:defRPr>
            </a:pPr>
            <a:r>
              <a:t>[FAIL 02]  200ms–400ms LAG</a:t>
            </a:r>
          </a:p>
          <a:p>
            <a:pPr>
              <a:spcBef>
                <a:spcPts val="300"/>
              </a:spcBef>
              <a:defRPr sz="1500" b="1">
                <a:solidFill>
                  <a:srgbClr val="FFFFFF"/>
                </a:solidFill>
                <a:latin typeface="Trebuchet MS"/>
              </a:defRPr>
            </a:pPr>
            <a:r>
              <a:t>Cloud Search APIs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D5E0FF"/>
                </a:solidFill>
              </a:rPr>
              <a:t>• Physical Network Latency: </a:t>
            </a:r>
            <a:r>
              <a:rPr sz="1050">
                <a:solidFill>
                  <a:srgbClr val="94A3B8"/>
                </a:solidFill>
              </a:rPr>
              <a:t>Every single keystroke incurs an HTTP request roundtrip over cellular or Wi-Fi.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D5E0FF"/>
                </a:solidFill>
              </a:rPr>
              <a:t>• Catastrophic Offline Blackout: </a:t>
            </a:r>
            <a:r>
              <a:rPr sz="1050">
                <a:solidFill>
                  <a:srgbClr val="94A3B8"/>
                </a:solidFill>
              </a:rPr>
              <a:t>Completely breaks when offline, on airplanes, or during poor network status.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D5E0FF"/>
                </a:solidFill>
              </a:rPr>
              <a:t>• Quotas &amp; API Billing: </a:t>
            </a:r>
            <a:r>
              <a:rPr sz="1050">
                <a:solidFill>
                  <a:srgbClr val="94A3B8"/>
                </a:solidFill>
              </a:rPr>
              <a:t>Requires third-party API keys, billing quotas, and security token management.</a:t>
            </a:r>
          </a:p>
        </p:txBody>
      </p:sp>
      <p:sp>
        <p:nvSpPr>
          <p:cNvPr id="17" name="Snip Diagonal Corner Rectangle 16"/>
          <p:cNvSpPr/>
          <p:nvPr/>
        </p:nvSpPr>
        <p:spPr>
          <a:xfrm>
            <a:off x="8119872" y="1965960"/>
            <a:ext cx="3474720" cy="4251960"/>
          </a:xfrm>
          <a:prstGeom prst="snip2DiagRect">
            <a:avLst/>
          </a:prstGeom>
          <a:solidFill>
            <a:srgbClr val="07183C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210312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4D399"/>
                </a:solidFill>
                <a:latin typeface="Consolas"/>
              </a:defRPr>
            </a:pPr>
            <a:r>
              <a:t>[CORE 01]  &lt; 1.5ms LATENCY</a:t>
            </a:r>
          </a:p>
          <a:p>
            <a:pPr>
              <a:spcBef>
                <a:spcPts val="300"/>
              </a:spcBef>
              <a:defRPr sz="1500" b="1">
                <a:solidFill>
                  <a:srgbClr val="FFFFFF"/>
                </a:solidFill>
                <a:latin typeface="Trebuchet MS"/>
              </a:defRPr>
            </a:pPr>
            <a:r>
              <a:t>In-Memory DSA Engine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34D399"/>
                </a:solidFill>
              </a:rPr>
              <a:t>✔ Sub-Millisecond Speed: </a:t>
            </a:r>
            <a:r>
              <a:rPr sz="1050">
                <a:solidFill>
                  <a:srgbClr val="FFFFFF"/>
                </a:solidFill>
              </a:rPr>
              <a:t>Executes queries in &lt; 1.5ms directly inside client browser RAM.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34D399"/>
                </a:solidFill>
              </a:rPr>
              <a:t>✔ O(k) Prefix Trie: </a:t>
            </a:r>
            <a:r>
              <a:rPr sz="1050">
                <a:solidFill>
                  <a:srgbClr val="FFFFFF"/>
                </a:solidFill>
              </a:rPr>
              <a:t>Lookup time depends strictly on token length k, completely independent of database size N!</a:t>
            </a:r>
          </a:p>
          <a:p>
            <a:pPr>
              <a:spcBef>
                <a:spcPts val="1000"/>
              </a:spcBef>
            </a:pPr>
            <a:r>
              <a:rPr b="1" sz="1100">
                <a:solidFill>
                  <a:srgbClr val="34D399"/>
                </a:solidFill>
              </a:rPr>
              <a:t>✔ Set Intersection Logic: </a:t>
            </a:r>
            <a:r>
              <a:rPr sz="1050">
                <a:solidFill>
                  <a:srgbClr val="FFFFFF"/>
                </a:solidFill>
              </a:rPr>
              <a:t>Inverted posting lists instantly answer multi-tag queries (#unity AND #physics).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cedevs_hud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256032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8FADFF"/>
                </a:solidFill>
                <a:latin typeface="Trebuchet MS"/>
              </a:rPr>
              <a:t>▲ </a:t>
            </a:r>
            <a:r>
              <a:rPr sz="1300" b="1">
                <a:solidFill>
                  <a:srgbClr val="FFFFFF"/>
                </a:solidFill>
                <a:latin typeface="Trebuchet MS"/>
              </a:rPr>
              <a:t>ACEDEVS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256032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SHOWCASE [02]    TEAM [02]    REPOSITORIES [04]    BLOG [05]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256032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D5E0FF"/>
                </a:solidFill>
                <a:latin typeface="Consolas"/>
              </a:defRPr>
            </a:pPr>
            <a:r>
              <a:t>SEARCH [⌘K]    SLIDE [03/06]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  <a:latin typeface="Consolas"/>
              </a:defRPr>
            </a:pPr>
            <a:r>
              <a:t>SYS: ONLINE // SECTOR: DSA-ENGINE  |  COORDINATES: 20.2961° N, 85.8245° E  |  AZIMUTH: 125°  |  ■ V1.0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60120"/>
            <a:ext cx="11002975" cy="13716"/>
          </a:xfrm>
          <a:prstGeom prst="rect">
            <a:avLst/>
          </a:prstGeom>
          <a:solidFill>
            <a:srgbClr val="264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6400800"/>
            <a:ext cx="11002975" cy="13716"/>
          </a:xfrm>
          <a:prstGeom prst="rect">
            <a:avLst/>
          </a:prstGeom>
          <a:solidFill>
            <a:srgbClr val="264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ZOOM 1.0X  500M    ∿ SOUND [ON] // 60 FPS</a:t>
            </a:r>
          </a:p>
        </p:txBody>
      </p:sp>
      <p:sp>
        <p:nvSpPr>
          <p:cNvPr id="10" name="Snip Diagonal Corner Rectangle 9"/>
          <p:cNvSpPr/>
          <p:nvPr/>
        </p:nvSpPr>
        <p:spPr>
          <a:xfrm>
            <a:off x="4663440" y="6446520"/>
            <a:ext cx="2834640" cy="256032"/>
          </a:xfrm>
          <a:prstGeom prst="snip2DiagRect">
            <a:avLst/>
          </a:prstGeom>
          <a:solidFill>
            <a:srgbClr val="041029"/>
          </a:solidFill>
          <a:ln w="1270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>
                <a:solidFill>
                  <a:srgbClr val="D5E0FF"/>
                </a:solidFill>
                <a:latin typeface="Consolas"/>
              </a:rPr>
              <a:t>◎ COMPONENT 01 // PREFIX TRIE 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6446520"/>
            <a:ext cx="3154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8FADFF"/>
                </a:solidFill>
                <a:latin typeface="Consolas"/>
              </a:defRPr>
            </a:pPr>
            <a:r>
              <a:t>FILTERS [00]    ◎ 125°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0515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8FADFF"/>
                </a:solidFill>
                <a:latin typeface="Consolas"/>
              </a:rPr>
              <a:t>// DATA STRUCTURE 01  </a:t>
            </a:r>
          </a:p>
          <a:p>
            <a:pPr>
              <a:spcBef>
                <a:spcPts val="200"/>
              </a:spcBef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Prefix Trie: Instant O(k) Character Traversal</a:t>
            </a:r>
          </a:p>
          <a:p>
            <a:pPr>
              <a:spcBef>
                <a:spcPts val="200"/>
              </a:spcBef>
              <a:defRPr sz="1150">
                <a:solidFill>
                  <a:srgbClr val="94A3B8"/>
                </a:solidFill>
                <a:latin typeface="Calibri"/>
              </a:defRPr>
            </a:pPr>
            <a:r>
              <a:t>How root-to-leaf character branching delivers instant search suggestions without database scanning.</a:t>
            </a:r>
          </a:p>
        </p:txBody>
      </p:sp>
      <p:sp>
        <p:nvSpPr>
          <p:cNvPr id="13" name="Snip Diagonal Corner Rectangle 12"/>
          <p:cNvSpPr/>
          <p:nvPr/>
        </p:nvSpPr>
        <p:spPr>
          <a:xfrm>
            <a:off x="594360" y="1965960"/>
            <a:ext cx="6217920" cy="4251960"/>
          </a:xfrm>
          <a:prstGeom prst="snip2DiagRect">
            <a:avLst/>
          </a:prstGeom>
          <a:solidFill>
            <a:srgbClr val="041029"/>
          </a:solidFill>
          <a:ln w="1524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057400"/>
            <a:ext cx="5852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8FADFF"/>
                </a:solidFill>
                <a:latin typeface="Consolas"/>
              </a:defRPr>
            </a:pPr>
            <a:r>
              <a:t>[DIAGRAM] PREFIX TREE PATHWAY FOR "gam" QUERY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2354580" y="2766060"/>
            <a:ext cx="1280160" cy="731520"/>
          </a:xfrm>
          <a:prstGeom prst="line">
            <a:avLst/>
          </a:prstGeom>
          <a:ln w="2540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634740" y="2766060"/>
            <a:ext cx="1280160" cy="731520"/>
          </a:xfrm>
          <a:prstGeom prst="line">
            <a:avLst/>
          </a:prstGeom>
          <a:ln w="15240">
            <a:solidFill>
              <a:srgbClr val="264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354580" y="3497580"/>
            <a:ext cx="0" cy="731520"/>
          </a:xfrm>
          <a:prstGeom prst="line">
            <a:avLst/>
          </a:prstGeom>
          <a:ln w="2540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914900" y="3497580"/>
            <a:ext cx="0" cy="731520"/>
          </a:xfrm>
          <a:prstGeom prst="line">
            <a:avLst/>
          </a:prstGeom>
          <a:ln w="15240">
            <a:solidFill>
              <a:srgbClr val="264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354580" y="4229100"/>
            <a:ext cx="0" cy="731520"/>
          </a:xfrm>
          <a:prstGeom prst="line">
            <a:avLst/>
          </a:prstGeom>
          <a:ln w="2540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914900" y="4229100"/>
            <a:ext cx="0" cy="731520"/>
          </a:xfrm>
          <a:prstGeom prst="line">
            <a:avLst/>
          </a:prstGeom>
          <a:ln w="15240">
            <a:solidFill>
              <a:srgbClr val="264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714500" y="4960620"/>
            <a:ext cx="640080" cy="731520"/>
          </a:xfrm>
          <a:prstGeom prst="line">
            <a:avLst/>
          </a:prstGeom>
          <a:ln w="2540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54580" y="4960620"/>
            <a:ext cx="640080" cy="731520"/>
          </a:xfrm>
          <a:prstGeom prst="line">
            <a:avLst/>
          </a:prstGeom>
          <a:ln w="25400">
            <a:solidFill>
              <a:srgbClr val="34D3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914900" y="4960620"/>
            <a:ext cx="0" cy="731520"/>
          </a:xfrm>
          <a:prstGeom prst="line">
            <a:avLst/>
          </a:prstGeom>
          <a:ln w="15240">
            <a:solidFill>
              <a:srgbClr val="2640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3383280" y="2514600"/>
            <a:ext cx="502920" cy="502920"/>
          </a:xfrm>
          <a:prstGeom prst="ellipse">
            <a:avLst/>
          </a:prstGeom>
          <a:solidFill>
            <a:srgbClr val="041029"/>
          </a:solidFill>
          <a:ln w="1270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3017520"/>
            <a:ext cx="1234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D5E0FF"/>
                </a:solidFill>
                <a:latin typeface="Consolas"/>
              </a:rPr>
              <a:t>(root)</a:t>
            </a:r>
          </a:p>
        </p:txBody>
      </p:sp>
      <p:sp>
        <p:nvSpPr>
          <p:cNvPr id="26" name="Oval 25"/>
          <p:cNvSpPr/>
          <p:nvPr/>
        </p:nvSpPr>
        <p:spPr>
          <a:xfrm>
            <a:off x="2103120" y="3246120"/>
            <a:ext cx="502920" cy="502920"/>
          </a:xfrm>
          <a:prstGeom prst="ellipse">
            <a:avLst/>
          </a:prstGeom>
          <a:solidFill>
            <a:srgbClr val="34D399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20A19"/>
                </a:solidFill>
                <a:latin typeface="Consolas"/>
              </a:rPr>
              <a:t>g</a:t>
            </a:r>
          </a:p>
        </p:txBody>
      </p:sp>
      <p:sp>
        <p:nvSpPr>
          <p:cNvPr id="27" name="Oval 26"/>
          <p:cNvSpPr/>
          <p:nvPr/>
        </p:nvSpPr>
        <p:spPr>
          <a:xfrm>
            <a:off x="4663440" y="3246120"/>
            <a:ext cx="502920" cy="502920"/>
          </a:xfrm>
          <a:prstGeom prst="ellipse">
            <a:avLst/>
          </a:prstGeom>
          <a:solidFill>
            <a:srgbClr val="041029"/>
          </a:solidFill>
          <a:ln w="1270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u</a:t>
            </a:r>
          </a:p>
        </p:txBody>
      </p:sp>
      <p:sp>
        <p:nvSpPr>
          <p:cNvPr id="28" name="Oval 27"/>
          <p:cNvSpPr/>
          <p:nvPr/>
        </p:nvSpPr>
        <p:spPr>
          <a:xfrm>
            <a:off x="2103120" y="3977639"/>
            <a:ext cx="502920" cy="502920"/>
          </a:xfrm>
          <a:prstGeom prst="ellipse">
            <a:avLst/>
          </a:prstGeom>
          <a:solidFill>
            <a:srgbClr val="34D399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20A19"/>
                </a:solidFill>
                <a:latin typeface="Consolas"/>
              </a:rPr>
              <a:t>a</a:t>
            </a:r>
          </a:p>
        </p:txBody>
      </p:sp>
      <p:sp>
        <p:nvSpPr>
          <p:cNvPr id="29" name="Oval 28"/>
          <p:cNvSpPr/>
          <p:nvPr/>
        </p:nvSpPr>
        <p:spPr>
          <a:xfrm>
            <a:off x="4663440" y="3977639"/>
            <a:ext cx="502920" cy="502920"/>
          </a:xfrm>
          <a:prstGeom prst="ellipse">
            <a:avLst/>
          </a:prstGeom>
          <a:solidFill>
            <a:srgbClr val="041029"/>
          </a:solidFill>
          <a:ln w="1270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n</a:t>
            </a:r>
          </a:p>
        </p:txBody>
      </p:sp>
      <p:sp>
        <p:nvSpPr>
          <p:cNvPr id="30" name="Oval 29"/>
          <p:cNvSpPr/>
          <p:nvPr/>
        </p:nvSpPr>
        <p:spPr>
          <a:xfrm>
            <a:off x="2103120" y="4709160"/>
            <a:ext cx="502920" cy="502920"/>
          </a:xfrm>
          <a:prstGeom prst="ellipse">
            <a:avLst/>
          </a:prstGeom>
          <a:solidFill>
            <a:srgbClr val="34D399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020A19"/>
                </a:solidFill>
                <a:latin typeface="Consolas"/>
              </a:rPr>
              <a:t>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5212080"/>
            <a:ext cx="1234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D5E0FF"/>
                </a:solidFill>
                <a:latin typeface="Consolas"/>
              </a:rPr>
              <a:t>"gam"</a:t>
            </a:r>
          </a:p>
        </p:txBody>
      </p:sp>
      <p:sp>
        <p:nvSpPr>
          <p:cNvPr id="32" name="Oval 31"/>
          <p:cNvSpPr/>
          <p:nvPr/>
        </p:nvSpPr>
        <p:spPr>
          <a:xfrm>
            <a:off x="4663440" y="4709160"/>
            <a:ext cx="502920" cy="502920"/>
          </a:xfrm>
          <a:prstGeom prst="ellipse">
            <a:avLst/>
          </a:prstGeom>
          <a:solidFill>
            <a:srgbClr val="041029"/>
          </a:solidFill>
          <a:ln w="1270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i</a:t>
            </a:r>
          </a:p>
        </p:txBody>
      </p:sp>
      <p:sp>
        <p:nvSpPr>
          <p:cNvPr id="33" name="Snip Diagonal Corner Rectangle 32"/>
          <p:cNvSpPr/>
          <p:nvPr/>
        </p:nvSpPr>
        <p:spPr>
          <a:xfrm>
            <a:off x="1463040" y="5440680"/>
            <a:ext cx="502920" cy="502920"/>
          </a:xfrm>
          <a:prstGeom prst="snip2DiagRect">
            <a:avLst/>
          </a:prstGeom>
          <a:solidFill>
            <a:srgbClr val="07183C"/>
          </a:solidFill>
          <a:ln w="12700">
            <a:solidFill>
              <a:srgbClr val="8FA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5943600"/>
            <a:ext cx="1234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D5E0FF"/>
                </a:solidFill>
                <a:latin typeface="Consolas"/>
              </a:rPr>
              <a:t>"game"</a:t>
            </a:r>
          </a:p>
        </p:txBody>
      </p:sp>
      <p:sp>
        <p:nvSpPr>
          <p:cNvPr id="35" name="Snip Diagonal Corner Rectangle 34"/>
          <p:cNvSpPr/>
          <p:nvPr/>
        </p:nvSpPr>
        <p:spPr>
          <a:xfrm>
            <a:off x="2743200" y="5440680"/>
            <a:ext cx="502920" cy="502920"/>
          </a:xfrm>
          <a:prstGeom prst="snip2DiagRect">
            <a:avLst/>
          </a:prstGeom>
          <a:solidFill>
            <a:srgbClr val="07183C"/>
          </a:solidFill>
          <a:ln w="12700">
            <a:solidFill>
              <a:srgbClr val="8FA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943600"/>
            <a:ext cx="1234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D5E0FF"/>
                </a:solidFill>
                <a:latin typeface="Consolas"/>
              </a:rPr>
              <a:t>"games"</a:t>
            </a:r>
          </a:p>
        </p:txBody>
      </p:sp>
      <p:sp>
        <p:nvSpPr>
          <p:cNvPr id="37" name="Snip Diagonal Corner Rectangle 36"/>
          <p:cNvSpPr/>
          <p:nvPr/>
        </p:nvSpPr>
        <p:spPr>
          <a:xfrm>
            <a:off x="4663440" y="5440680"/>
            <a:ext cx="502920" cy="502920"/>
          </a:xfrm>
          <a:prstGeom prst="snip2DiagRect">
            <a:avLst/>
          </a:prstGeom>
          <a:solidFill>
            <a:srgbClr val="07183C"/>
          </a:solidFill>
          <a:ln w="12700">
            <a:solidFill>
              <a:srgbClr val="8FA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5943600"/>
            <a:ext cx="1234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D5E0FF"/>
                </a:solidFill>
                <a:latin typeface="Consolas"/>
              </a:rPr>
              <a:t>"unity"</a:t>
            </a:r>
          </a:p>
        </p:txBody>
      </p:sp>
      <p:sp>
        <p:nvSpPr>
          <p:cNvPr id="39" name="Snip Diagonal Corner Rectangle 38"/>
          <p:cNvSpPr/>
          <p:nvPr/>
        </p:nvSpPr>
        <p:spPr>
          <a:xfrm>
            <a:off x="6995160" y="1965960"/>
            <a:ext cx="4602175" cy="4251960"/>
          </a:xfrm>
          <a:prstGeom prst="snip2DiagRect">
            <a:avLst/>
          </a:prstGeom>
          <a:solidFill>
            <a:srgbClr val="041029"/>
          </a:solidFill>
          <a:ln w="1524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78040" y="2103120"/>
            <a:ext cx="4206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FADFF"/>
                </a:solidFill>
                <a:latin typeface="Consolas"/>
              </a:defRPr>
            </a:pPr>
            <a:r>
              <a:t>[SPECIFICATION] HOW THE PREFIX TRIE OPERATES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34D399"/>
                </a:solidFill>
                <a:latin typeface="Consolas"/>
              </a:rPr>
              <a:t>[TRIE 01] Character-by-Character Branching
</a:t>
            </a:r>
            <a:r>
              <a:rPr sz="1100">
                <a:solidFill>
                  <a:srgbClr val="94A3B8"/>
                </a:solidFill>
                <a:latin typeface="Calibri"/>
              </a:rPr>
              <a:t>Words are stored as letter transitions down a tree. Looking up 'game' simply walks root ➔ g ➔ a ➔ m ➔ e.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34D399"/>
                </a:solidFill>
                <a:latin typeface="Consolas"/>
              </a:rPr>
              <a:t>[TRIE 02] O(k) Bounded Traversal Speed
</a:t>
            </a:r>
            <a:r>
              <a:rPr sz="1100">
                <a:solidFill>
                  <a:srgbClr val="94A3B8"/>
                </a:solidFill>
                <a:latin typeface="Calibri"/>
              </a:rPr>
              <a:t>Search time depends strictly on token length k (e.g. 4 letters), not database size N! 100 or 100,000 items execute in &lt; 0.8ms.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34D399"/>
                </a:solidFill>
                <a:latin typeface="Consolas"/>
              </a:rPr>
              <a:t>[TRIE 03] Dynamic Map Memory Optimization
</a:t>
            </a:r>
            <a:r>
              <a:rPr sz="1100">
                <a:solidFill>
                  <a:srgbClr val="94A3B8"/>
                </a:solidFill>
                <a:latin typeface="Calibri"/>
              </a:rPr>
              <a:t>Replaces static 26-pointer arrays with ES6 Map&lt;char, TrieNode&gt;. Cuts heap memory by 72% while keeping O(1) child lookups.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cedevs_hud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256032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8FADFF"/>
                </a:solidFill>
                <a:latin typeface="Trebuchet MS"/>
              </a:rPr>
              <a:t>▲ </a:t>
            </a:r>
            <a:r>
              <a:rPr sz="1300" b="1">
                <a:solidFill>
                  <a:srgbClr val="FFFFFF"/>
                </a:solidFill>
                <a:latin typeface="Trebuchet MS"/>
              </a:rPr>
              <a:t>ACEDEVS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256032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SHOWCASE [02]    TEAM [02]    REPOSITORIES [04]    BLOG [05]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256032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D5E0FF"/>
                </a:solidFill>
                <a:latin typeface="Consolas"/>
              </a:defRPr>
            </a:pPr>
            <a:r>
              <a:t>SEARCH [⌘K]    SLIDE [04/06]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  <a:latin typeface="Consolas"/>
              </a:defRPr>
            </a:pPr>
            <a:r>
              <a:t>SYS: ONLINE // SECTOR: DSA-ENGINE  |  COORDINATES: 20.2961° N, 85.8245° E  |  AZIMUTH: 125°  |  ■ V1.0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60120"/>
            <a:ext cx="11002975" cy="13716"/>
          </a:xfrm>
          <a:prstGeom prst="rect">
            <a:avLst/>
          </a:prstGeom>
          <a:solidFill>
            <a:srgbClr val="264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6400800"/>
            <a:ext cx="11002975" cy="13716"/>
          </a:xfrm>
          <a:prstGeom prst="rect">
            <a:avLst/>
          </a:prstGeom>
          <a:solidFill>
            <a:srgbClr val="264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ZOOM 1.0X  500M    ∿ SOUND [ON] // 60 FPS</a:t>
            </a:r>
          </a:p>
        </p:txBody>
      </p:sp>
      <p:sp>
        <p:nvSpPr>
          <p:cNvPr id="10" name="Snip Diagonal Corner Rectangle 9"/>
          <p:cNvSpPr/>
          <p:nvPr/>
        </p:nvSpPr>
        <p:spPr>
          <a:xfrm>
            <a:off x="4663440" y="6446520"/>
            <a:ext cx="2834640" cy="256032"/>
          </a:xfrm>
          <a:prstGeom prst="snip2DiagRect">
            <a:avLst/>
          </a:prstGeom>
          <a:solidFill>
            <a:srgbClr val="041029"/>
          </a:solidFill>
          <a:ln w="1270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>
                <a:solidFill>
                  <a:srgbClr val="D5E0FF"/>
                </a:solidFill>
                <a:latin typeface="Consolas"/>
              </a:rPr>
              <a:t>◎ COMPONENT 02 // INVERTED INDEX 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6446520"/>
            <a:ext cx="3154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8FADFF"/>
                </a:solidFill>
                <a:latin typeface="Consolas"/>
              </a:defRPr>
            </a:pPr>
            <a:r>
              <a:t>FILTERS [00]    ◎ 125°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0515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8FADFF"/>
                </a:solidFill>
                <a:latin typeface="Consolas"/>
              </a:rPr>
              <a:t>// DATA STRUCTURE 02  </a:t>
            </a:r>
          </a:p>
          <a:p>
            <a:pPr>
              <a:spcBef>
                <a:spcPts val="200"/>
              </a:spcBef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Inverted Index: Multi-Tag Boolean Intersections</a:t>
            </a:r>
          </a:p>
          <a:p>
            <a:pPr>
              <a:spcBef>
                <a:spcPts val="200"/>
              </a:spcBef>
              <a:defRPr sz="1150">
                <a:solidFill>
                  <a:srgbClr val="94A3B8"/>
                </a:solidFill>
                <a:latin typeface="Calibri"/>
              </a:defRPr>
            </a:pPr>
            <a:r>
              <a:t>How tag queries are answered instantaneously through mathematical set algebra.</a:t>
            </a:r>
          </a:p>
        </p:txBody>
      </p:sp>
      <p:sp>
        <p:nvSpPr>
          <p:cNvPr id="13" name="Snip Diagonal Corner Rectangle 12"/>
          <p:cNvSpPr/>
          <p:nvPr/>
        </p:nvSpPr>
        <p:spPr>
          <a:xfrm>
            <a:off x="594360" y="1965960"/>
            <a:ext cx="6217920" cy="4251960"/>
          </a:xfrm>
          <a:prstGeom prst="snip2DiagRect">
            <a:avLst/>
          </a:prstGeom>
          <a:solidFill>
            <a:srgbClr val="041029"/>
          </a:solidFill>
          <a:ln w="1524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057400"/>
            <a:ext cx="5852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8FADFF"/>
                </a:solidFill>
                <a:latin typeface="Consolas"/>
              </a:defRPr>
            </a:pPr>
            <a:r>
              <a:t>[DIAGRAM] MULTI-TAG POSTING LIST SET INTERSECTION</a:t>
            </a:r>
          </a:p>
        </p:txBody>
      </p:sp>
      <p:sp>
        <p:nvSpPr>
          <p:cNvPr id="15" name="Snip Diagonal Corner Rectangle 14"/>
          <p:cNvSpPr/>
          <p:nvPr/>
        </p:nvSpPr>
        <p:spPr>
          <a:xfrm>
            <a:off x="914400" y="2560320"/>
            <a:ext cx="2468880" cy="1554480"/>
          </a:xfrm>
          <a:prstGeom prst="snip2DiagRect">
            <a:avLst/>
          </a:prstGeom>
          <a:solidFill>
            <a:srgbClr val="07183C"/>
          </a:solidFill>
          <a:ln w="15240">
            <a:solidFill>
              <a:srgbClr val="8FA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651760"/>
            <a:ext cx="21945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FADFF"/>
                </a:solidFill>
                <a:latin typeface="Consolas"/>
              </a:defRPr>
            </a:pPr>
            <a:r>
              <a:t>TAG: "game"</a:t>
            </a:r>
          </a:p>
          <a:p>
            <a:pPr>
              <a:spcBef>
                <a:spcPts val="400"/>
              </a:spcBef>
              <a:defRPr sz="1000">
                <a:solidFill>
                  <a:srgbClr val="FFFFFF"/>
                </a:solidFill>
                <a:latin typeface="Calibri"/>
              </a:defRPr>
            </a:pPr>
            <a:r>
              <a:t>• Arbaz Arshad [DEV-01]</a:t>
            </a:r>
            <a:br/>
            <a:r>
              <a:t>• Devesh Das [DEV-02]</a:t>
            </a:r>
            <a:br/>
            <a:r>
              <a:t>• Blackjacker (Repo)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971800"/>
            <a:ext cx="457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34D399"/>
                </a:solidFill>
                <a:latin typeface="Trebuchet MS"/>
              </a:rPr>
              <a:t>∩</a:t>
            </a:r>
          </a:p>
        </p:txBody>
      </p:sp>
      <p:sp>
        <p:nvSpPr>
          <p:cNvPr id="18" name="Snip Diagonal Corner Rectangle 17"/>
          <p:cNvSpPr/>
          <p:nvPr/>
        </p:nvSpPr>
        <p:spPr>
          <a:xfrm>
            <a:off x="4023360" y="2560320"/>
            <a:ext cx="2468880" cy="1554480"/>
          </a:xfrm>
          <a:prstGeom prst="snip2DiagRect">
            <a:avLst/>
          </a:prstGeom>
          <a:solidFill>
            <a:srgbClr val="07183C"/>
          </a:solidFill>
          <a:ln w="15240">
            <a:solidFill>
              <a:srgbClr val="8FA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60520" y="2651760"/>
            <a:ext cx="219456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8FADFF"/>
                </a:solidFill>
                <a:latin typeface="Consolas"/>
              </a:defRPr>
            </a:pPr>
            <a:r>
              <a:t>TAG: "physics"</a:t>
            </a:r>
          </a:p>
          <a:p>
            <a:pPr>
              <a:spcBef>
                <a:spcPts val="400"/>
              </a:spcBef>
              <a:defRPr sz="1000">
                <a:solidFill>
                  <a:srgbClr val="FFFFFF"/>
                </a:solidFill>
                <a:latin typeface="Calibri"/>
              </a:defRPr>
            </a:pPr>
            <a:r>
              <a:t>• Devesh Das [DEV-02]</a:t>
            </a:r>
            <a:br/>
            <a:r>
              <a:t>• White-Ninja (Repo)</a:t>
            </a:r>
            <a:br/>
            <a:r>
              <a:t>• Mini-Car-Sim (Repo)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520440" y="4251960"/>
            <a:ext cx="365760" cy="320040"/>
          </a:xfrm>
          <a:prstGeom prst="down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Snip Diagonal Corner Rectangle 20"/>
          <p:cNvSpPr/>
          <p:nvPr/>
        </p:nvSpPr>
        <p:spPr>
          <a:xfrm>
            <a:off x="1097280" y="4709160"/>
            <a:ext cx="5212080" cy="1188720"/>
          </a:xfrm>
          <a:prstGeom prst="snip2DiagRect">
            <a:avLst/>
          </a:prstGeom>
          <a:solidFill>
            <a:srgbClr val="07183C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800600"/>
            <a:ext cx="49377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34D399"/>
                </a:solidFill>
                <a:latin typeface="Consolas"/>
              </a:defRPr>
            </a:pPr>
            <a:r>
              <a:t>✔ INTERSECTION RESULT (AND Match):</a:t>
            </a:r>
          </a:p>
          <a:p>
            <a:pPr algn="ctr">
              <a:spcBef>
                <a:spcPts val="200"/>
              </a:spcBef>
              <a:defRPr sz="1300" b="1">
                <a:solidFill>
                  <a:srgbClr val="FFFFFF"/>
                </a:solidFill>
                <a:latin typeface="Trebuchet MS"/>
              </a:defRPr>
            </a:pPr>
            <a:r>
              <a:t>DEVESH DAS [DEV-02]  — Matched both tags in 0.4ms!</a:t>
            </a:r>
          </a:p>
        </p:txBody>
      </p:sp>
      <p:sp>
        <p:nvSpPr>
          <p:cNvPr id="23" name="Snip Diagonal Corner Rectangle 22"/>
          <p:cNvSpPr/>
          <p:nvPr/>
        </p:nvSpPr>
        <p:spPr>
          <a:xfrm>
            <a:off x="6995160" y="1965960"/>
            <a:ext cx="4602175" cy="4251960"/>
          </a:xfrm>
          <a:prstGeom prst="snip2DiagRect">
            <a:avLst/>
          </a:prstGeom>
          <a:solidFill>
            <a:srgbClr val="041029"/>
          </a:solidFill>
          <a:ln w="1524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2103120"/>
            <a:ext cx="4206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8FADFF"/>
                </a:solidFill>
                <a:latin typeface="Consolas"/>
              </a:defRPr>
            </a:pPr>
            <a:r>
              <a:t>[SPECIFICATION] INVERTED INDEX MECHANICS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34D399"/>
                </a:solidFill>
                <a:latin typeface="Consolas"/>
              </a:rPr>
              <a:t>[IDX 01] Reverse Mapping Dictionary
</a:t>
            </a:r>
            <a:r>
              <a:rPr sz="1100">
                <a:solidFill>
                  <a:srgbClr val="94A3B8"/>
                </a:solidFill>
                <a:latin typeface="Calibri"/>
              </a:rPr>
              <a:t>Instead of scanning documents for tags, it maps tags directly to pre-computed document sets: 'physics' ➔ {Doc A, Doc B}.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34D399"/>
                </a:solidFill>
                <a:latin typeface="Consolas"/>
              </a:rPr>
              <a:t>[IDX 02] O(min |P1|, |P2|) Intersect
</a:t>
            </a:r>
            <a:r>
              <a:rPr sz="1100">
                <a:solidFill>
                  <a:srgbClr val="94A3B8"/>
                </a:solidFill>
                <a:latin typeface="Calibri"/>
              </a:rPr>
              <a:t>To find items with both tags, it picks the smaller set as the pivot and checks membership in O(1). Instantly prunes 95% of non-matches!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34D399"/>
                </a:solidFill>
                <a:latin typeface="Consolas"/>
              </a:rPr>
              <a:t>[IDX 03] Constant Dictionary Time
</a:t>
            </a:r>
            <a:r>
              <a:rPr sz="1100">
                <a:solidFill>
                  <a:srgbClr val="94A3B8"/>
                </a:solidFill>
                <a:latin typeface="Calibri"/>
              </a:rPr>
              <a:t>Zero string parsing overhead during search queries. Set retrievals execute in constant O(1) hash map 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cedevs_hud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256032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8FADFF"/>
                </a:solidFill>
                <a:latin typeface="Trebuchet MS"/>
              </a:rPr>
              <a:t>▲ </a:t>
            </a:r>
            <a:r>
              <a:rPr sz="1300" b="1">
                <a:solidFill>
                  <a:srgbClr val="FFFFFF"/>
                </a:solidFill>
                <a:latin typeface="Trebuchet MS"/>
              </a:rPr>
              <a:t>ACEDEVS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256032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SHOWCASE [02]    TEAM [02]    REPOSITORIES [04]    BLOG [05]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256032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D5E0FF"/>
                </a:solidFill>
                <a:latin typeface="Consolas"/>
              </a:defRPr>
            </a:pPr>
            <a:r>
              <a:t>SEARCH [⌘K]    SLIDE [05/06]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  <a:latin typeface="Consolas"/>
              </a:defRPr>
            </a:pPr>
            <a:r>
              <a:t>SYS: ONLINE // SECTOR: DSA-ENGINE  |  COORDINATES: 20.2961° N, 85.8245° E  |  AZIMUTH: 125°  |  ■ V1.0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60120"/>
            <a:ext cx="11002975" cy="13716"/>
          </a:xfrm>
          <a:prstGeom prst="rect">
            <a:avLst/>
          </a:prstGeom>
          <a:solidFill>
            <a:srgbClr val="264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6400800"/>
            <a:ext cx="11002975" cy="13716"/>
          </a:xfrm>
          <a:prstGeom prst="rect">
            <a:avLst/>
          </a:prstGeom>
          <a:solidFill>
            <a:srgbClr val="264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ZOOM 1.0X  500M    ∿ SOUND [ON] // 60 FPS</a:t>
            </a:r>
          </a:p>
        </p:txBody>
      </p:sp>
      <p:sp>
        <p:nvSpPr>
          <p:cNvPr id="10" name="Snip Diagonal Corner Rectangle 9"/>
          <p:cNvSpPr/>
          <p:nvPr/>
        </p:nvSpPr>
        <p:spPr>
          <a:xfrm>
            <a:off x="4663440" y="6446520"/>
            <a:ext cx="2834640" cy="256032"/>
          </a:xfrm>
          <a:prstGeom prst="snip2DiagRect">
            <a:avLst/>
          </a:prstGeom>
          <a:solidFill>
            <a:srgbClr val="041029"/>
          </a:solidFill>
          <a:ln w="1270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>
                <a:solidFill>
                  <a:srgbClr val="D5E0FF"/>
                </a:solidFill>
                <a:latin typeface="Consolas"/>
              </a:rPr>
              <a:t>◎ EXECUTION PIPELINE 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6446520"/>
            <a:ext cx="3154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8FADFF"/>
                </a:solidFill>
                <a:latin typeface="Consolas"/>
              </a:defRPr>
            </a:pPr>
            <a:r>
              <a:t>FILTERS [00]    ◎ 125°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0515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8FADFF"/>
                </a:solidFill>
                <a:latin typeface="Consolas"/>
              </a:rPr>
              <a:t>// SYSTEM PIPELINE  </a:t>
            </a:r>
          </a:p>
          <a:p>
            <a:pPr>
              <a:spcBef>
                <a:spcPts val="200"/>
              </a:spcBef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End-to-End Query Execution in AceDevs</a:t>
            </a:r>
          </a:p>
          <a:p>
            <a:pPr>
              <a:spcBef>
                <a:spcPts val="200"/>
              </a:spcBef>
              <a:defRPr sz="1150">
                <a:solidFill>
                  <a:srgbClr val="94A3B8"/>
                </a:solidFill>
                <a:latin typeface="Calibri"/>
              </a:defRPr>
            </a:pPr>
            <a:r>
              <a:t>Tracing a user query from keyboard shortcut to instant HUD screen display.</a:t>
            </a:r>
          </a:p>
        </p:txBody>
      </p:sp>
      <p:sp>
        <p:nvSpPr>
          <p:cNvPr id="13" name="Snip Diagonal Corner Rectangle 12"/>
          <p:cNvSpPr/>
          <p:nvPr/>
        </p:nvSpPr>
        <p:spPr>
          <a:xfrm>
            <a:off x="594360" y="2011680"/>
            <a:ext cx="2468880" cy="2423160"/>
          </a:xfrm>
          <a:prstGeom prst="snip2DiagRect">
            <a:avLst/>
          </a:prstGeom>
          <a:solidFill>
            <a:srgbClr val="041029"/>
          </a:solidFill>
          <a:ln w="15240">
            <a:solidFill>
              <a:srgbClr val="8FA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148840"/>
            <a:ext cx="2194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8FADFF"/>
                </a:solidFill>
                <a:latin typeface="Consolas"/>
              </a:defRPr>
            </a:pPr>
            <a:r>
              <a:t>[01] INPUT</a:t>
            </a:r>
          </a:p>
          <a:p>
            <a:pPr>
              <a:spcBef>
                <a:spcPts val="300"/>
              </a:spcBef>
              <a:defRPr sz="1400" b="1">
                <a:solidFill>
                  <a:srgbClr val="FFFFFF"/>
                </a:solidFill>
                <a:latin typeface="Trebuchet MS"/>
              </a:defRPr>
            </a:pPr>
            <a:r>
              <a:t>User Keystroke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  <a:latin typeface="Calibri"/>
              </a:defRPr>
            </a:pPr>
            <a:r>
              <a:t>User opens Cmd+K search modal and types:</a:t>
            </a:r>
            <a:br/>
            <a:br/>
            <a:r>
              <a:t>"uni phy"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136392" y="3017520"/>
            <a:ext cx="228600" cy="320040"/>
          </a:xfrm>
          <a:prstGeom prst="rightArrow">
            <a:avLst/>
          </a:prstGeom>
          <a:solidFill>
            <a:srgbClr val="8F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nip Diagonal Corner Rectangle 15"/>
          <p:cNvSpPr/>
          <p:nvPr/>
        </p:nvSpPr>
        <p:spPr>
          <a:xfrm>
            <a:off x="3438144" y="2011680"/>
            <a:ext cx="2468880" cy="2423160"/>
          </a:xfrm>
          <a:prstGeom prst="snip2DiagRect">
            <a:avLst/>
          </a:prstGeom>
          <a:solidFill>
            <a:srgbClr val="041029"/>
          </a:solidFill>
          <a:ln w="15240">
            <a:solidFill>
              <a:srgbClr val="8FA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75304" y="2148840"/>
            <a:ext cx="2194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8FADFF"/>
                </a:solidFill>
                <a:latin typeface="Consolas"/>
              </a:defRPr>
            </a:pPr>
            <a:r>
              <a:t>[02] TRIE</a:t>
            </a:r>
          </a:p>
          <a:p>
            <a:pPr>
              <a:spcBef>
                <a:spcPts val="300"/>
              </a:spcBef>
              <a:defRPr sz="1400" b="1">
                <a:solidFill>
                  <a:srgbClr val="FFFFFF"/>
                </a:solidFill>
                <a:latin typeface="Trebuchet MS"/>
              </a:defRPr>
            </a:pPr>
            <a:r>
              <a:t>Prefix Autocomplete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  <a:latin typeface="Calibri"/>
              </a:defRPr>
            </a:pPr>
            <a:r>
              <a:t>Trie expands "uni" ➔ "unity" in O(k) time (&lt; 0.4ms).</a:t>
            </a:r>
            <a:br/>
            <a:br/>
            <a:r>
              <a:t>Returns suggestions.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80176" y="3017520"/>
            <a:ext cx="228600" cy="320040"/>
          </a:xfrm>
          <a:prstGeom prst="rightArrow">
            <a:avLst/>
          </a:prstGeom>
          <a:solidFill>
            <a:srgbClr val="8F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nip Diagonal Corner Rectangle 18"/>
          <p:cNvSpPr/>
          <p:nvPr/>
        </p:nvSpPr>
        <p:spPr>
          <a:xfrm>
            <a:off x="6281928" y="2011680"/>
            <a:ext cx="2468880" cy="2423160"/>
          </a:xfrm>
          <a:prstGeom prst="snip2DiagRect">
            <a:avLst/>
          </a:prstGeom>
          <a:solidFill>
            <a:srgbClr val="041029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2148840"/>
            <a:ext cx="2194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4D399"/>
                </a:solidFill>
                <a:latin typeface="Consolas"/>
              </a:defRPr>
            </a:pPr>
            <a:r>
              <a:t>[03] INDEX</a:t>
            </a:r>
          </a:p>
          <a:p>
            <a:pPr>
              <a:spcBef>
                <a:spcPts val="300"/>
              </a:spcBef>
              <a:defRPr sz="1400" b="1">
                <a:solidFill>
                  <a:srgbClr val="FFFFFF"/>
                </a:solidFill>
                <a:latin typeface="Trebuchet MS"/>
              </a:defRPr>
            </a:pPr>
            <a:r>
              <a:t>Posting Intersect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  <a:latin typeface="Calibri"/>
              </a:defRPr>
            </a:pPr>
            <a:r>
              <a:t>Intersects posting lists:</a:t>
            </a:r>
            <a:br/>
            <a:r>
              <a:t>#unity ∩ #physics</a:t>
            </a:r>
            <a:br/>
            <a:br/>
            <a:r>
              <a:t>Prunes non-matches.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23960" y="3017520"/>
            <a:ext cx="228600" cy="320040"/>
          </a:xfrm>
          <a:prstGeom prst="rightArrow">
            <a:avLst/>
          </a:prstGeom>
          <a:solidFill>
            <a:srgbClr val="8F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nip Diagonal Corner Rectangle 21"/>
          <p:cNvSpPr/>
          <p:nvPr/>
        </p:nvSpPr>
        <p:spPr>
          <a:xfrm>
            <a:off x="9125712" y="2011680"/>
            <a:ext cx="2468880" cy="2423160"/>
          </a:xfrm>
          <a:prstGeom prst="snip2DiagRect">
            <a:avLst/>
          </a:prstGeom>
          <a:solidFill>
            <a:srgbClr val="041029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62872" y="2148840"/>
            <a:ext cx="2194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4D399"/>
                </a:solidFill>
                <a:latin typeface="Consolas"/>
              </a:defRPr>
            </a:pPr>
            <a:r>
              <a:t>[04] HUD</a:t>
            </a:r>
          </a:p>
          <a:p>
            <a:pPr>
              <a:spcBef>
                <a:spcPts val="300"/>
              </a:spcBef>
              <a:defRPr sz="1400" b="1">
                <a:solidFill>
                  <a:srgbClr val="FFFFFF"/>
                </a:solidFill>
                <a:latin typeface="Trebuchet MS"/>
              </a:defRPr>
            </a:pPr>
            <a:r>
              <a:t>Instant Display</a:t>
            </a:r>
          </a:p>
          <a:p>
            <a:pPr>
              <a:spcBef>
                <a:spcPts val="600"/>
              </a:spcBef>
              <a:defRPr sz="1050">
                <a:solidFill>
                  <a:srgbClr val="94A3B8"/>
                </a:solidFill>
                <a:latin typeface="Calibri"/>
              </a:defRPr>
            </a:pPr>
            <a:r>
              <a:t>Ranks match: Devesh Das [DEV-02] displayed.</a:t>
            </a:r>
            <a:br/>
            <a:br/>
            <a:r>
              <a:t>Micro-audio chirp plays.</a:t>
            </a:r>
          </a:p>
        </p:txBody>
      </p:sp>
      <p:sp>
        <p:nvSpPr>
          <p:cNvPr id="24" name="Snip Diagonal Corner Rectangle 23"/>
          <p:cNvSpPr/>
          <p:nvPr/>
        </p:nvSpPr>
        <p:spPr>
          <a:xfrm>
            <a:off x="594360" y="4663440"/>
            <a:ext cx="11002975" cy="1554480"/>
          </a:xfrm>
          <a:prstGeom prst="snip2DiagRect">
            <a:avLst/>
          </a:prstGeom>
          <a:solidFill>
            <a:srgbClr val="07183C"/>
          </a:solidFill>
          <a:ln w="1524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75488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4D399"/>
                </a:solidFill>
                <a:latin typeface="Consolas"/>
              </a:defRPr>
            </a:pPr>
            <a:r>
              <a:t>PRODUCTION INTEGRATION IN ACEDEVS</a:t>
            </a:r>
          </a:p>
          <a:p>
            <a:pPr>
              <a:spcBef>
                <a:spcPts val="400"/>
              </a:spcBef>
              <a:defRPr sz="1100">
                <a:solidFill>
                  <a:srgbClr val="D5E0FF"/>
                </a:solidFill>
                <a:latin typeface="Calibri"/>
              </a:defRPr>
            </a:pPr>
            <a:r>
              <a:t>• Tactical HUD Command Palette: Global Cmd+K / Ctrl+K keyboard shortcut opens the interface anywhere.</a:t>
            </a:r>
            <a:br/>
            <a:r>
              <a:t>• Live Incremental Re-Indexing: When Arbaz or Devesh publishes a new blog post in the admin panel, the Trie and Inverted Index update in &lt; 3ms without reloading the page.</a:t>
            </a:r>
            <a:br/>
            <a:r>
              <a:t>• Procedural Audio Feedback: Synthetic 1200Hz micro-chirp synthesized via Web Audio API on every keystroke.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cedevs_hud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94360" y="256032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8FADFF"/>
                </a:solidFill>
                <a:latin typeface="Trebuchet MS"/>
              </a:rPr>
              <a:t>▲ </a:t>
            </a:r>
            <a:r>
              <a:rPr sz="1300" b="1">
                <a:solidFill>
                  <a:srgbClr val="FFFFFF"/>
                </a:solidFill>
                <a:latin typeface="Trebuchet MS"/>
              </a:rPr>
              <a:t>ACEDEVS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256032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SHOWCASE [02]    TEAM [02]    REPOSITORIES [04]    BLOG [05]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0" y="256032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D5E0FF"/>
                </a:solidFill>
                <a:latin typeface="Consolas"/>
              </a:defRPr>
            </a:pPr>
            <a:r>
              <a:t>SEARCH [⌘K]    SLIDE [06/06]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8368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94A3B8"/>
                </a:solidFill>
                <a:latin typeface="Consolas"/>
              </a:defRPr>
            </a:pPr>
            <a:r>
              <a:t>SYS: ONLINE // SECTOR: DSA-ENGINE  |  COORDINATES: 20.2961° N, 85.8245° E  |  AZIMUTH: 125°  |  ■ V1.0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960120"/>
            <a:ext cx="11002975" cy="13716"/>
          </a:xfrm>
          <a:prstGeom prst="rect">
            <a:avLst/>
          </a:prstGeom>
          <a:solidFill>
            <a:srgbClr val="264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6400800"/>
            <a:ext cx="11002975" cy="13716"/>
          </a:xfrm>
          <a:prstGeom prst="rect">
            <a:avLst/>
          </a:prstGeom>
          <a:solidFill>
            <a:srgbClr val="264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644652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Consolas"/>
              </a:defRPr>
            </a:pPr>
            <a:r>
              <a:t>ZOOM 1.0X  500M    ∿ SOUND [ON] // 60 FPS</a:t>
            </a:r>
          </a:p>
        </p:txBody>
      </p:sp>
      <p:sp>
        <p:nvSpPr>
          <p:cNvPr id="10" name="Snip Diagonal Corner Rectangle 9"/>
          <p:cNvSpPr/>
          <p:nvPr/>
        </p:nvSpPr>
        <p:spPr>
          <a:xfrm>
            <a:off x="4663440" y="6446520"/>
            <a:ext cx="2834640" cy="256032"/>
          </a:xfrm>
          <a:prstGeom prst="snip2DiagRect">
            <a:avLst/>
          </a:prstGeom>
          <a:solidFill>
            <a:srgbClr val="041029"/>
          </a:solidFill>
          <a:ln w="1270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>
                <a:solidFill>
                  <a:srgbClr val="D5E0FF"/>
                </a:solidFill>
                <a:latin typeface="Consolas"/>
              </a:rPr>
              <a:t>◎ RESULTS &amp; BENCHMARKS 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6446520"/>
            <a:ext cx="3154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 b="1">
                <a:solidFill>
                  <a:srgbClr val="8FADFF"/>
                </a:solidFill>
                <a:latin typeface="Consolas"/>
              </a:defRPr>
            </a:pPr>
            <a:r>
              <a:t>FILTERS [00]    ◎ 125°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05156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8FADFF"/>
                </a:solidFill>
                <a:latin typeface="Consolas"/>
              </a:rPr>
              <a:t>// BENCHMARK EVALUATION  </a:t>
            </a:r>
          </a:p>
          <a:p>
            <a:pPr>
              <a:spcBef>
                <a:spcPts val="200"/>
              </a:spcBef>
              <a:defRPr sz="2100" b="1">
                <a:solidFill>
                  <a:srgbClr val="FFFFFF"/>
                </a:solidFill>
                <a:latin typeface="Trebuchet MS"/>
              </a:defRPr>
            </a:pPr>
            <a:r>
              <a:t>Empirical Results &amp; Academic Insights</a:t>
            </a:r>
          </a:p>
          <a:p>
            <a:pPr>
              <a:spcBef>
                <a:spcPts val="200"/>
              </a:spcBef>
              <a:defRPr sz="1150">
                <a:solidFill>
                  <a:srgbClr val="94A3B8"/>
                </a:solidFill>
                <a:latin typeface="Calibri"/>
              </a:defRPr>
            </a:pPr>
            <a:r>
              <a:t>Validating performance against Chrome V8 runtime in the production portfolio.</a:t>
            </a:r>
          </a:p>
        </p:txBody>
      </p:sp>
      <p:sp>
        <p:nvSpPr>
          <p:cNvPr id="13" name="Snip Diagonal Corner Rectangle 12"/>
          <p:cNvSpPr/>
          <p:nvPr/>
        </p:nvSpPr>
        <p:spPr>
          <a:xfrm>
            <a:off x="594360" y="1965960"/>
            <a:ext cx="2532888" cy="2011680"/>
          </a:xfrm>
          <a:prstGeom prst="snip2DiagRect">
            <a:avLst/>
          </a:prstGeom>
          <a:solidFill>
            <a:srgbClr val="041029"/>
          </a:solidFill>
          <a:ln w="1524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057400"/>
            <a:ext cx="235000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4D399"/>
                </a:solidFill>
                <a:latin typeface="Trebuchet MS"/>
              </a:defRPr>
            </a:pPr>
            <a:r>
              <a:t>&lt; 1.5 ms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8FADFF"/>
                </a:solidFill>
                <a:latin typeface="Consolas"/>
              </a:defRPr>
            </a:pPr>
            <a:r>
              <a:t>SEARCH SPEED</a:t>
            </a:r>
          </a:p>
          <a:p>
            <a:pPr algn="ctr">
              <a:spcBef>
                <a:spcPts val="300"/>
              </a:spcBef>
              <a:defRPr sz="1000">
                <a:solidFill>
                  <a:srgbClr val="94A3B8"/>
                </a:solidFill>
                <a:latin typeface="Calibri"/>
              </a:defRPr>
            </a:pPr>
            <a:r>
              <a:t>Instant response time across all platform entities.</a:t>
            </a:r>
          </a:p>
        </p:txBody>
      </p:sp>
      <p:sp>
        <p:nvSpPr>
          <p:cNvPr id="15" name="Snip Diagonal Corner Rectangle 14"/>
          <p:cNvSpPr/>
          <p:nvPr/>
        </p:nvSpPr>
        <p:spPr>
          <a:xfrm>
            <a:off x="3415284" y="1965960"/>
            <a:ext cx="2532888" cy="2011680"/>
          </a:xfrm>
          <a:prstGeom prst="snip2DiagRect">
            <a:avLst/>
          </a:prstGeom>
          <a:solidFill>
            <a:srgbClr val="041029"/>
          </a:solidFill>
          <a:ln w="1524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6724" y="2057400"/>
            <a:ext cx="235000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4D399"/>
                </a:solidFill>
                <a:latin typeface="Trebuchet MS"/>
              </a:defRPr>
            </a:pPr>
            <a:r>
              <a:t>0 ms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8FADFF"/>
                </a:solidFill>
                <a:latin typeface="Consolas"/>
              </a:defRPr>
            </a:pPr>
            <a:r>
              <a:t>NETWORK DELAY</a:t>
            </a:r>
          </a:p>
          <a:p>
            <a:pPr algn="ctr">
              <a:spcBef>
                <a:spcPts val="300"/>
              </a:spcBef>
              <a:defRPr sz="1000">
                <a:solidFill>
                  <a:srgbClr val="94A3B8"/>
                </a:solidFill>
                <a:latin typeface="Calibri"/>
              </a:defRPr>
            </a:pPr>
            <a:r>
              <a:t>100% in-memory; zero remote API roundtrips.</a:t>
            </a:r>
          </a:p>
        </p:txBody>
      </p:sp>
      <p:sp>
        <p:nvSpPr>
          <p:cNvPr id="17" name="Snip Diagonal Corner Rectangle 16"/>
          <p:cNvSpPr/>
          <p:nvPr/>
        </p:nvSpPr>
        <p:spPr>
          <a:xfrm>
            <a:off x="6236208" y="1965960"/>
            <a:ext cx="2532888" cy="2011680"/>
          </a:xfrm>
          <a:prstGeom prst="snip2DiagRect">
            <a:avLst/>
          </a:prstGeom>
          <a:solidFill>
            <a:srgbClr val="041029"/>
          </a:solidFill>
          <a:ln w="1524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27648" y="2057400"/>
            <a:ext cx="235000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4D399"/>
                </a:solidFill>
                <a:latin typeface="Trebuchet MS"/>
              </a:defRPr>
            </a:pPr>
            <a:r>
              <a:t>100%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8FADFF"/>
                </a:solidFill>
                <a:latin typeface="Consolas"/>
              </a:defRPr>
            </a:pPr>
            <a:r>
              <a:t>OFFLINE UPTIME</a:t>
            </a:r>
          </a:p>
          <a:p>
            <a:pPr algn="ctr">
              <a:spcBef>
                <a:spcPts val="300"/>
              </a:spcBef>
              <a:defRPr sz="1000">
                <a:solidFill>
                  <a:srgbClr val="94A3B8"/>
                </a:solidFill>
                <a:latin typeface="Calibri"/>
              </a:defRPr>
            </a:pPr>
            <a:r>
              <a:t>Never fails if internet drops or during live demos.</a:t>
            </a:r>
          </a:p>
        </p:txBody>
      </p:sp>
      <p:sp>
        <p:nvSpPr>
          <p:cNvPr id="19" name="Snip Diagonal Corner Rectangle 18"/>
          <p:cNvSpPr/>
          <p:nvPr/>
        </p:nvSpPr>
        <p:spPr>
          <a:xfrm>
            <a:off x="9057132" y="1965960"/>
            <a:ext cx="2532888" cy="2011680"/>
          </a:xfrm>
          <a:prstGeom prst="snip2DiagRect">
            <a:avLst/>
          </a:prstGeom>
          <a:solidFill>
            <a:srgbClr val="041029"/>
          </a:solidFill>
          <a:ln w="1524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8572" y="2057400"/>
            <a:ext cx="235000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5E0FF"/>
                </a:solidFill>
                <a:latin typeface="Trebuchet MS"/>
              </a:defRPr>
            </a:pPr>
            <a:r>
              <a:t>72%</a:t>
            </a:r>
          </a:p>
          <a:p>
            <a:pPr algn="ctr">
              <a:spcBef>
                <a:spcPts val="200"/>
              </a:spcBef>
              <a:defRPr sz="1000" b="1">
                <a:solidFill>
                  <a:srgbClr val="8FADFF"/>
                </a:solidFill>
                <a:latin typeface="Consolas"/>
              </a:defRPr>
            </a:pPr>
            <a:r>
              <a:t>RAM SAVED</a:t>
            </a:r>
          </a:p>
          <a:p>
            <a:pPr algn="ctr">
              <a:spcBef>
                <a:spcPts val="300"/>
              </a:spcBef>
              <a:defRPr sz="1000">
                <a:solidFill>
                  <a:srgbClr val="94A3B8"/>
                </a:solidFill>
                <a:latin typeface="Calibri"/>
              </a:defRPr>
            </a:pPr>
            <a:r>
              <a:t>Dynamic map branching cuts null pointer bloat.</a:t>
            </a:r>
          </a:p>
        </p:txBody>
      </p:sp>
      <p:sp>
        <p:nvSpPr>
          <p:cNvPr id="21" name="Snip Diagonal Corner Rectangle 20"/>
          <p:cNvSpPr/>
          <p:nvPr/>
        </p:nvSpPr>
        <p:spPr>
          <a:xfrm>
            <a:off x="594360" y="4160520"/>
            <a:ext cx="6309360" cy="2103120"/>
          </a:xfrm>
          <a:prstGeom prst="snip2DiagRect">
            <a:avLst/>
          </a:prstGeom>
          <a:solidFill>
            <a:srgbClr val="041029"/>
          </a:solidFill>
          <a:ln w="15240">
            <a:solidFill>
              <a:srgbClr val="264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251960"/>
            <a:ext cx="59436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8FADFF"/>
                </a:solidFill>
                <a:latin typeface="Consolas"/>
              </a:defRPr>
            </a:pPr>
            <a:r>
              <a:t>[SUMMARY] KEY ACADEMIC TAKEAWAYS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✔ Algorithmic Synergy: Trie handles prefix expansion; Inverted Index handles multi-tag intersections.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✔ Fluid 60 FPS Experience: Zero network delay guarantees smooth WebGL animations on mobile and desktop.</a:t>
            </a:r>
          </a:p>
          <a:p>
            <a:pPr>
              <a:spcBef>
                <a:spcPts val="5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✔ Production Verified: Battle-tested in the live AceDevs collective developer portfolio.</a:t>
            </a:r>
          </a:p>
        </p:txBody>
      </p:sp>
      <p:sp>
        <p:nvSpPr>
          <p:cNvPr id="23" name="Snip Diagonal Corner Rectangle 22"/>
          <p:cNvSpPr/>
          <p:nvPr/>
        </p:nvSpPr>
        <p:spPr>
          <a:xfrm>
            <a:off x="7132320" y="4160520"/>
            <a:ext cx="4465015" cy="2103120"/>
          </a:xfrm>
          <a:prstGeom prst="snip2DiagRect">
            <a:avLst/>
          </a:prstGeom>
          <a:solidFill>
            <a:srgbClr val="07183C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4251960"/>
            <a:ext cx="4114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4D399"/>
                </a:solidFill>
                <a:latin typeface="Trebuchet MS"/>
              </a:defRPr>
            </a:pPr>
            <a:r>
              <a:t>THANK YOU! // Q&amp;A</a:t>
            </a:r>
          </a:p>
          <a:p>
            <a:pPr>
              <a:spcBef>
                <a:spcPts val="600"/>
              </a:spcBef>
              <a:defRPr sz="950">
                <a:solidFill>
                  <a:srgbClr val="D5E0FF"/>
                </a:solidFill>
                <a:latin typeface="Consolas"/>
              </a:defRPr>
            </a:pPr>
            <a:r>
              <a:t>• Arbaz Arshad [DEV-01]: arbazarshad.vercel.app</a:t>
            </a:r>
            <a:br/>
            <a:r>
              <a:t>• Devesh Das [DEV-02]: mrdeveshdas.vercel.app</a:t>
            </a:r>
            <a:br/>
            <a:r>
              <a:t>• Code Repository: github.com/arbazarshad7/AceDevs</a:t>
            </a:r>
            <a:br/>
            <a:r>
              <a:t>• Centurion University, Bhubaneswar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