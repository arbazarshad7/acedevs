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217920" cy="347472"/>
          </a:xfrm>
          <a:prstGeom prst="roundRect">
            <a:avLst/>
          </a:prstGeom>
          <a:solidFill>
            <a:srgbClr val="0B214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0A5FA"/>
                </a:solidFill>
                <a:latin typeface="Consolas"/>
              </a:rPr>
              <a:t>CENTURION UNIVERSITY // CSE DEPARTMENT // DSA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Consolas"/>
              </a:defRPr>
            </a:pPr>
            <a:r>
              <a:t>DATA STRUCTURES &amp; ALGORITHMS PROJECT</a:t>
            </a:r>
          </a:p>
          <a:p>
            <a:pPr>
              <a:spcBef>
                <a:spcPts val="800"/>
              </a:spcBef>
              <a:defRPr sz="3800" b="1">
                <a:solidFill>
                  <a:srgbClr val="D5E0FF"/>
                </a:solidFill>
                <a:latin typeface="Trebuchet MS"/>
              </a:defRPr>
            </a:pPr>
            <a:r>
              <a:t>The Trie &amp; Inverted Index</a:t>
            </a:r>
            <a:br/>
            <a:r>
              <a:t>Search Engine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  <a:latin typeface="Calibri"/>
              </a:defRPr>
            </a:pPr>
            <a:r>
              <a:t>Zero-latency in-memory prefix autocomplete and multi-tag discovery built for the AceDevs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3337560" cy="169164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ARBAZ ARSHAD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Lead Architect [DEV-01]</a:t>
            </a:r>
            <a:br/>
            <a:r>
              <a:t>Game Systems &amp; AI</a:t>
            </a:r>
            <a:br/>
            <a:r>
              <a:t>Portfolio: arbazarshad.com</a:t>
            </a:r>
            <a:br/>
            <a:r>
              <a:t>GitHub: arbazarshad7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389120"/>
            <a:ext cx="3337560" cy="169164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526280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DEVESH DAS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CS &amp; Physics Engineer [DEV-02]</a:t>
            </a:r>
            <a:br/>
            <a:r>
              <a:t>Game Mechanics &amp; Engines</a:t>
            </a:r>
            <a:br/>
            <a:r>
              <a:t>Portfolio: mrdeveshdas.vercel.app</a:t>
            </a:r>
            <a:br/>
            <a:r>
              <a:t>GitHub: ninja27dev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389120"/>
            <a:ext cx="3337560" cy="1691640"/>
          </a:xfrm>
          <a:prstGeom prst="roundRect">
            <a:avLst/>
          </a:prstGeom>
          <a:solidFill>
            <a:srgbClr val="0E2D5F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526280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Trebuchet MS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defRPr sz="1100">
                <a:solidFill>
                  <a:srgbClr val="D5E0FF"/>
                </a:solidFill>
                <a:latin typeface="Consolas"/>
              </a:defRPr>
            </a:pPr>
            <a:r>
              <a:t>⚡ &lt; 1.5ms Query Latency</a:t>
            </a:r>
            <a:br/>
            <a:r>
              <a:t>🔒 100% Client-Side In-Memory</a:t>
            </a:r>
            <a:br/>
            <a:r>
              <a:t>📦 Zero NPM Search Dependencies</a:t>
            </a:r>
            <a:br/>
            <a:r>
              <a:t>🌐 100% Offline Resilient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0B214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Consolas"/>
              </a:rPr>
              <a:t>//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5E0FF"/>
                </a:solidFill>
                <a:latin typeface="Trebuchet MS"/>
              </a:defRPr>
            </a:pPr>
            <a:r>
              <a:t>Why Traditional Search Fails in Modern Web Apps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Comparing standard array scans, remote cloud search APIs, and our in-memory DSA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6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448056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1. Naive Array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87171"/>
                </a:solidFill>
                <a:latin typeface="Consolas"/>
              </a:defRPr>
            </a:pPr>
            <a:r>
              <a:t>[ SLOW &amp; INEFFICIENT ]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❌ O(N · L) Time Complexity:</a:t>
            </a:r>
            <a:br/>
            <a:r>
              <a:t>Scans every single item and letter one by one.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❌ Drops Animation Frames:</a:t>
            </a:r>
            <a:br/>
            <a:r>
              <a:t>Freezes browser main thread, causing 3D WebGL scenes to lag.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❌ No Prefix Intelligence:</a:t>
            </a:r>
            <a:br/>
            <a:r>
              <a:t>Cannot autocomplete partial keystrokes like 'gam' ➔ 'games'.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337560" cy="448056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9659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2. Cloud Search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46888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BBF24"/>
                </a:solidFill>
                <a:latin typeface="Consolas"/>
              </a:defRPr>
            </a:pPr>
            <a:r>
              <a:t>[ HIGH LATENCY &amp; COST ]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⚠️ 200ms–400ms Lag:</a:t>
            </a:r>
            <a:br/>
            <a:r>
              <a:t>Every keystroke makes an HTTP network roundtrip to a remote server.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⚠️ Breaks Offline:</a:t>
            </a:r>
            <a:br/>
            <a:r>
              <a:t>If the user loses internet connection, the search bar completely fails.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⚠️ Paid Quotas &amp; Limits:</a:t>
            </a:r>
            <a:br/>
            <a:r>
              <a:t>Requires API keys, rate-limit handling, and recurring hosting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828800"/>
            <a:ext cx="3337560" cy="4480560"/>
          </a:xfrm>
          <a:prstGeom prst="roundRect">
            <a:avLst/>
          </a:prstGeom>
          <a:solidFill>
            <a:srgbClr val="0E2D5F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9659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3. Our In-Memory DSA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46888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4D399"/>
                </a:solidFill>
                <a:latin typeface="Consolas"/>
              </a:defRPr>
            </a:pPr>
            <a:r>
              <a:t>[ OPTIMAL SOLUTION ]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✔ Sub-Millisecond Speed:</a:t>
            </a:r>
            <a:br/>
            <a:r>
              <a:t>Executes in &lt; 1.5ms directly inside browser RAM.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✔ O(k) Prefix Trie:</a:t>
            </a:r>
            <a:br/>
            <a:r>
              <a:t>Autocomplete speed depends only on token length, not dataset size!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✔ Inverted Index Intersect:</a:t>
            </a:r>
            <a:br/>
            <a:r>
              <a:t>Instant multi-tag boolean queries (e.g., #unity AND #physics).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0B214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Consolas"/>
              </a:rPr>
              <a:t>// COMPONENT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5E0FF"/>
                </a:solidFill>
                <a:latin typeface="Trebuchet MS"/>
              </a:defRPr>
            </a:pPr>
            <a:r>
              <a:t>Prefix Trie: Instant O(k) Autocomplete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Visualizing how character-by-character tree branching delivers sub-millisecond search suggestions.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6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217920" cy="448056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852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Trie Tree Structure Diagram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2468880"/>
            <a:ext cx="502920" cy="502920"/>
          </a:xfrm>
          <a:prstGeom prst="ellipse">
            <a:avLst/>
          </a:prstGeom>
          <a:solidFill>
            <a:srgbClr val="0B214D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971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5E0FF"/>
                </a:solidFill>
                <a:latin typeface="Consolas"/>
              </a:rPr>
              <a:t>(root)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3200400"/>
            <a:ext cx="502920" cy="50292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20A19"/>
                </a:solidFill>
                <a:latin typeface="Consolas"/>
              </a:rPr>
              <a:t>g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200400"/>
            <a:ext cx="502920" cy="502920"/>
          </a:xfrm>
          <a:prstGeom prst="ellipse">
            <a:avLst/>
          </a:prstGeom>
          <a:solidFill>
            <a:srgbClr val="0B214D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u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0" y="3931920"/>
            <a:ext cx="502920" cy="50292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20A19"/>
                </a:solidFill>
                <a:latin typeface="Consolas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931920"/>
            <a:ext cx="502920" cy="502920"/>
          </a:xfrm>
          <a:prstGeom prst="ellipse">
            <a:avLst/>
          </a:prstGeom>
          <a:solidFill>
            <a:srgbClr val="0B214D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4663440"/>
            <a:ext cx="502920" cy="50292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20A19"/>
                </a:solidFill>
                <a:latin typeface="Consolas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5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5E0FF"/>
                </a:solidFill>
                <a:latin typeface="Consolas"/>
              </a:rPr>
              <a:t>"gam" query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4663440"/>
            <a:ext cx="502920" cy="502920"/>
          </a:xfrm>
          <a:prstGeom prst="ellipse">
            <a:avLst/>
          </a:prstGeom>
          <a:solidFill>
            <a:srgbClr val="0B214D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5394960"/>
            <a:ext cx="502920" cy="502920"/>
          </a:xfrm>
          <a:prstGeom prst="ellipse">
            <a:avLst/>
          </a:prstGeom>
          <a:solidFill>
            <a:srgbClr val="1E3A8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978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5E0FF"/>
                </a:solidFill>
                <a:latin typeface="Consolas"/>
              </a:rPr>
              <a:t>"game"</a:t>
            </a:r>
          </a:p>
        </p:txBody>
      </p:sp>
      <p:sp>
        <p:nvSpPr>
          <p:cNvPr id="19" name="Oval 18"/>
          <p:cNvSpPr/>
          <p:nvPr/>
        </p:nvSpPr>
        <p:spPr>
          <a:xfrm>
            <a:off x="2926080" y="5394960"/>
            <a:ext cx="502920" cy="502920"/>
          </a:xfrm>
          <a:prstGeom prst="ellipse">
            <a:avLst/>
          </a:prstGeom>
          <a:solidFill>
            <a:srgbClr val="1E3A8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8978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5E0FF"/>
                </a:solidFill>
                <a:latin typeface="Consolas"/>
              </a:rPr>
              <a:t>"games"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5394960"/>
            <a:ext cx="502920" cy="502920"/>
          </a:xfrm>
          <a:prstGeom prst="ellipse">
            <a:avLst/>
          </a:prstGeom>
          <a:solidFill>
            <a:srgbClr val="1E3A8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8978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5E0FF"/>
                </a:solidFill>
                <a:latin typeface="Consolas"/>
              </a:rPr>
              <a:t>"unity"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1828800"/>
            <a:ext cx="4251960" cy="448056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26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196596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How The Trie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146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1. Character-by-Character Branching
</a:t>
            </a:r>
            <a:r>
              <a:rPr sz="1150">
                <a:solidFill>
                  <a:srgbClr val="94A3B8"/>
                </a:solidFill>
                <a:latin typeface="Calibri"/>
              </a:rPr>
              <a:t>Words are stored as letter paths down a tree. Looking up 'game' simply walks from root ➔ g ➔ a ➔ m ➔ e.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2. O(k) Bounded Traversal Speed
</a:t>
            </a:r>
            <a:r>
              <a:rPr sz="1150">
                <a:solidFill>
                  <a:srgbClr val="94A3B8"/>
                </a:solidFill>
                <a:latin typeface="Calibri"/>
              </a:rPr>
              <a:t>Search time depends ONLY on word length k (e.g. 4 letters), completely independent of whether you have 100 or 100,000 documents!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3. Instant Bounded Autocomplete
</a:t>
            </a:r>
            <a:r>
              <a:rPr sz="1150">
                <a:solidFill>
                  <a:srgbClr val="94A3B8"/>
                </a:solidFill>
                <a:latin typeface="Calibri"/>
              </a:rPr>
              <a:t>Typing 'gam' immediately navigates to node 'm' and collects all downstream words ('game', 'games') in &lt; 0.8ms.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0B214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Consolas"/>
              </a:rPr>
              <a:t>// COMPONENT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5E0FF"/>
                </a:solidFill>
                <a:latin typeface="Trebuchet MS"/>
              </a:defRPr>
            </a:pPr>
            <a:r>
              <a:t>Inverted Index: Instant Multi-Tag Set Intersection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How tag queries are answered instantaneously through mathematical set intersections.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6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217920" cy="448056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852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Multi-Tag Set Intersection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2377440" cy="1645920"/>
          </a:xfrm>
          <a:prstGeom prst="roundRect">
            <a:avLst/>
          </a:prstGeom>
          <a:solidFill>
            <a:srgbClr val="0B214D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Consolas"/>
              </a:defRPr>
            </a:pPr>
            <a:r>
              <a:t>TAG: "game"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Arbaz Arshad [DEV-01]</a:t>
            </a:r>
            <a:br/>
            <a:r>
              <a:t>• Devesh Das [DEV-02]</a:t>
            </a:r>
            <a:br/>
            <a:r>
              <a:t>• Blackjacker (Repo)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2608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Trebuchet MS"/>
              </a:rPr>
              <a:t>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68880"/>
            <a:ext cx="2377440" cy="1645920"/>
          </a:xfrm>
          <a:prstGeom prst="roundRect">
            <a:avLst/>
          </a:prstGeom>
          <a:solidFill>
            <a:srgbClr val="0B214D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Consolas"/>
              </a:defRPr>
            </a:pPr>
            <a:r>
              <a:t>TAG: "physics"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Devesh Das [DEV-02]</a:t>
            </a:r>
            <a:br/>
            <a:r>
              <a:t>• White-Ninja (Repo)</a:t>
            </a:r>
            <a:br/>
            <a:r>
              <a:t>• Mini-Car-Sim (Repo)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566160" y="4297680"/>
            <a:ext cx="548640" cy="411480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4937760" cy="1097280"/>
          </a:xfrm>
          <a:prstGeom prst="roundRect">
            <a:avLst/>
          </a:prstGeom>
          <a:solidFill>
            <a:srgbClr val="0E2D5F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✔ INTERSECTION RESULT (AND Match):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DEVESH DAS [DEV-02] — Matched both tags in 0.4ms!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28800"/>
            <a:ext cx="4251960" cy="448056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26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96596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Why Inverted Index Excels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146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1. Reverse Mapping Dictionary
</a:t>
            </a:r>
            <a:r>
              <a:rPr sz="1150">
                <a:solidFill>
                  <a:srgbClr val="94A3B8"/>
                </a:solidFill>
                <a:latin typeface="Calibri"/>
              </a:rPr>
              <a:t>Instead of scanning documents for words, it maps words directly to document sets: 'physics' ➔ {Doc A, Doc B}.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2. O(min |P1|, |P2|) Intersect
</a:t>
            </a:r>
            <a:r>
              <a:rPr sz="1150">
                <a:solidFill>
                  <a:srgbClr val="94A3B8"/>
                </a:solidFill>
                <a:latin typeface="Calibri"/>
              </a:rPr>
              <a:t>To find items with both tags, it simply intersects the two sets. It iterates through the smaller set, instantly discarding 95% of non-matches.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3. Zero Scanning Overhead
</a:t>
            </a:r>
            <a:r>
              <a:rPr sz="1150">
                <a:solidFill>
                  <a:srgbClr val="94A3B8"/>
                </a:solidFill>
                <a:latin typeface="Calibri"/>
              </a:rPr>
              <a:t>No nested loops, no string slicing. Lookups happen in constant dictionary time O(1).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0B214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Consolas"/>
              </a:rPr>
              <a:t>// 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5E0FF"/>
                </a:solidFill>
                <a:latin typeface="Trebuchet MS"/>
              </a:defRPr>
            </a:pPr>
            <a:r>
              <a:t>How It All Works Together in AceDevs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Tracing a real query through the keystroke, Trie expansion, and inverted set intersection.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6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377440" cy="246888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Consolas"/>
              </a:defRPr>
            </a:pPr>
            <a:r>
              <a:t>STEP 1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User Keystroke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User opens Cmd+K search modal and types:</a:t>
            </a:r>
            <a:br/>
            <a:br/>
            <a:r>
              <a:t>"uni phy"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82112" y="2926080"/>
            <a:ext cx="256032" cy="32004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1296" y="1920240"/>
            <a:ext cx="2377440" cy="246888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20574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Consolas"/>
              </a:defRPr>
            </a:pPr>
            <a:r>
              <a:t>STEP 2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Prefix Trie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Trie expands "uni" ➔ "unity" in O(k) time (&lt; 0.4ms).</a:t>
            </a:r>
            <a:br/>
            <a:br/>
            <a:r>
              <a:t>Returns suggestions.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2926080"/>
            <a:ext cx="256032" cy="32004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920240"/>
            <a:ext cx="2377440" cy="246888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574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Consolas"/>
              </a:defRPr>
            </a:pPr>
            <a:r>
              <a:t>STEP 3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Inverted Index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Intersects posting lists:</a:t>
            </a:r>
            <a:br/>
            <a:r>
              <a:t>#unity ∩ #physics</a:t>
            </a:r>
            <a:br/>
            <a:br/>
            <a:r>
              <a:t>Prunes non-matches.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41664" y="2926080"/>
            <a:ext cx="256032" cy="32004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70848" y="1920240"/>
            <a:ext cx="2377440" cy="246888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8" y="205740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Consolas"/>
              </a:defRPr>
            </a:pPr>
            <a:r>
              <a:t>STEP 4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Instant Display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Ranks match: Devesh Das [DEV-02] displayed.</a:t>
            </a:r>
            <a:br/>
            <a:br/>
            <a:r>
              <a:t>Micro-audio chirp plays.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728655" cy="1600200"/>
          </a:xfrm>
          <a:prstGeom prst="roundRect">
            <a:avLst/>
          </a:prstGeom>
          <a:solidFill>
            <a:srgbClr val="0E2D5F"/>
          </a:solidFill>
          <a:ln w="15240">
            <a:solidFill>
              <a:srgbClr val="26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onsolas"/>
              </a:defRPr>
            </a:pPr>
            <a:r>
              <a:t>REAL-TIME PRODUCTION INTEGRATION IN ACEDEVS</a:t>
            </a:r>
          </a:p>
          <a:p>
            <a:pPr>
              <a:spcBef>
                <a:spcPts val="400"/>
              </a:spcBef>
              <a:defRPr sz="1100">
                <a:solidFill>
                  <a:srgbClr val="D5E0FF"/>
                </a:solidFill>
                <a:latin typeface="Calibri"/>
              </a:defRPr>
            </a:pPr>
            <a:r>
              <a:t>• Tactical HUD Command Palette: Global Cmd+K / Ctrl+K keyboard shortcut opens the interface anywhere.</a:t>
            </a:r>
            <a:br/>
            <a:r>
              <a:t>• Live Incremental Re-Indexing: When Arbaz or Devesh publishes a new blog post in the admin panel, the Trie and Inverted Index update in &lt; 3ms without reloading the page.</a:t>
            </a:r>
            <a:br/>
            <a:r>
              <a:t>• Procedural Audio Feedback: Synthetic 1200Hz micro-chirp synthesized via Web Audio API on every keystroke.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0B214D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Consolas"/>
              </a:rPr>
              <a:t>// 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5E0FF"/>
                </a:solidFill>
                <a:latin typeface="Trebuchet MS"/>
              </a:defRPr>
            </a:pPr>
            <a:r>
              <a:t>Key Takeaways &amp; Real-World Results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Proving that classical data structures can outperform heavyweight cloud search architectures.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26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192024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Trebuchet MS"/>
              </a:defRPr>
            </a:pPr>
            <a:r>
              <a:t>&lt; 1.5 ms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60A5FA"/>
                </a:solidFill>
                <a:latin typeface="Consolas"/>
              </a:defRPr>
            </a:pPr>
            <a:r>
              <a:t>SEARCH SPEED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Instant response time across entire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192024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Trebuchet MS"/>
              </a:defRPr>
            </a:pPr>
            <a:r>
              <a:t>0 ms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60A5FA"/>
                </a:solidFill>
                <a:latin typeface="Consolas"/>
              </a:defRPr>
            </a:pPr>
            <a:r>
              <a:t>NETWORK DELAY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100% in-memory; zero remote API roundtrips.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192024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Trebuchet MS"/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60A5FA"/>
                </a:solidFill>
                <a:latin typeface="Consolas"/>
              </a:defRPr>
            </a:pPr>
            <a:r>
              <a:t>OFFLINE UPTIME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Never fails if internet drops or during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192024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5E0FF"/>
                </a:solidFill>
                <a:latin typeface="Trebuchet MS"/>
              </a:defRPr>
            </a:pPr>
            <a:r>
              <a:t>72%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60A5FA"/>
                </a:solidFill>
                <a:latin typeface="Consolas"/>
              </a:defRPr>
            </a:pPr>
            <a:r>
              <a:t>RAM SAVED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Dynamic map branching cuts null pointer bloat.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6217920" cy="2286000"/>
          </a:xfrm>
          <a:prstGeom prst="roundRect">
            <a:avLst/>
          </a:prstGeom>
          <a:solidFill>
            <a:srgbClr val="07183A"/>
          </a:solidFill>
          <a:ln w="15240">
            <a:solidFill>
              <a:srgbClr val="26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5852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Project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✔ Algorithmic Synergy: Trie provides prefix expansion; Inverted Index handles multi-tag intersections.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✔ Fluid 60 FPS Experience: Zero network delay guarantees smooth WebGL animations on mobile and desktop.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✔ Production Verified: Battle-tested in the live AceDevs collective developer portfolio.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023360"/>
            <a:ext cx="4236415" cy="2286000"/>
          </a:xfrm>
          <a:prstGeom prst="roundRect">
            <a:avLst/>
          </a:prstGeom>
          <a:solidFill>
            <a:srgbClr val="0E2D5F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160520"/>
            <a:ext cx="3870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5E0FF"/>
                </a:solidFill>
                <a:latin typeface="Trebuchet MS"/>
              </a:defRPr>
            </a:pPr>
            <a:r>
              <a:t>Project Access &amp;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43484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THANK YOU! // Q&amp;A</a:t>
            </a:r>
          </a:p>
          <a:p>
            <a:pPr>
              <a:spcBef>
                <a:spcPts val="600"/>
              </a:spcBef>
              <a:defRPr sz="1000">
                <a:solidFill>
                  <a:srgbClr val="D5E0FF"/>
                </a:solidFill>
                <a:latin typeface="Consolas"/>
              </a:defRPr>
            </a:pPr>
            <a:r>
              <a:t>• Arbaz Arshad [DEV-01]: arbazarshad.com</a:t>
            </a:r>
            <a:br/>
            <a:r>
              <a:t>• Devesh Das [DEV-02]: mrdeveshdas.vercel.app</a:t>
            </a:r>
            <a:br/>
            <a:r>
              <a:t>• Code Repository: github.com/arbazarshad7/AceDevs</a:t>
            </a:r>
            <a:br/>
            <a:r>
              <a:t>• Centurion University, Bhubaneswar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